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624" r:id="rId5"/>
    <p:sldId id="2582" r:id="rId6"/>
    <p:sldId id="2600" r:id="rId7"/>
    <p:sldId id="2623" r:id="rId8"/>
    <p:sldId id="2602" r:id="rId9"/>
    <p:sldId id="2603" r:id="rId10"/>
    <p:sldId id="2604" r:id="rId11"/>
    <p:sldId id="2617" r:id="rId12"/>
    <p:sldId id="2625" r:id="rId13"/>
  </p:sldIdLst>
  <p:sldSz cx="12192000" cy="6858000"/>
  <p:notesSz cx="7099300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F4AE00"/>
    <a:srgbClr val="660033"/>
    <a:srgbClr val="437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3EDBC2-DE5C-7D29-1361-A134B9CC3A2A}" v="1470" dt="2026-04-06T22:36:59.8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348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3075647" cy="511486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1999" y="1"/>
            <a:ext cx="3075646" cy="511486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r">
              <a:defRPr sz="1300"/>
            </a:lvl1pPr>
          </a:lstStyle>
          <a:p>
            <a:fld id="{4597EA2D-D11E-4F11-940E-96FC3DC86B48}" type="datetimeFigureOut">
              <a:rPr lang="de-DE" smtClean="0"/>
              <a:pPr/>
              <a:t>07.04.2026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6" y="9721499"/>
            <a:ext cx="3075647" cy="511485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1999" y="9721499"/>
            <a:ext cx="3075646" cy="511485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r">
              <a:defRPr sz="1300"/>
            </a:lvl1pPr>
          </a:lstStyle>
          <a:p>
            <a:fld id="{ED1FD422-38C1-46E5-AEB3-FCA53D65A208}" type="slidenum">
              <a:rPr lang="de-AT" smtClean="0"/>
              <a:pPr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33588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1299" y="1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r">
              <a:defRPr sz="1300"/>
            </a:lvl1pPr>
          </a:lstStyle>
          <a:p>
            <a:fld id="{25FA59D5-1C02-4780-AF81-09ADAD492357}" type="datetimeFigureOut">
              <a:rPr lang="de-AT" smtClean="0"/>
              <a:pPr/>
              <a:t>07.04.2026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6763"/>
            <a:ext cx="6819900" cy="383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519" tIns="47259" rIns="94519" bIns="47259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4519" tIns="47259" rIns="94519" bIns="47259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1299" y="9721106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r">
              <a:defRPr sz="1300"/>
            </a:lvl1pPr>
          </a:lstStyle>
          <a:p>
            <a:fld id="{7AA6D168-C717-485B-B0C8-699ECBDF2CFF}" type="slidenum">
              <a:rPr lang="de-AT" smtClean="0"/>
              <a:pPr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77337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39700" y="766763"/>
            <a:ext cx="6819900" cy="3836987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A6D168-C717-485B-B0C8-699ECBDF2CFF}" type="slidenum">
              <a:rPr lang="de-AT" smtClean="0"/>
              <a:pPr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932390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A6D168-C717-485B-B0C8-699ECBDF2CFF}" type="slidenum">
              <a:rPr lang="de-AT" smtClean="0"/>
              <a:pPr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064048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A6D168-C717-485B-B0C8-699ECBDF2CFF}" type="slidenum">
              <a:rPr lang="de-AT" smtClean="0"/>
              <a:pPr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60483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4EA4C-212E-0F18-CDDC-120739390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41A650F-9BF6-BB5B-B6E1-E7904828F6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9700" y="766763"/>
            <a:ext cx="6819900" cy="3836987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14CC7E0-F492-3B1D-0CB9-D8511B64A5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2EE6E5-313F-61D8-AF22-9A7DA1D81B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A6D168-C717-485B-B0C8-699ECBDF2CFF}" type="slidenum">
              <a:rPr lang="de-AT" smtClean="0"/>
              <a:pPr/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72700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3DBAB2-6CCA-40C7-8885-2C056A77E284}" type="datetime1">
              <a:rPr lang="de-AT" smtClean="0"/>
              <a:t>07.04.2026</a:t>
            </a:fld>
            <a:endParaRPr lang="de-AT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AT"/>
              <a:t>Diplomarbeit Name, Name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  <p:sp>
        <p:nvSpPr>
          <p:cNvPr id="14" name="Textfeld 13"/>
          <p:cNvSpPr txBox="1"/>
          <p:nvPr userDrawn="1"/>
        </p:nvSpPr>
        <p:spPr>
          <a:xfrm>
            <a:off x="1967541" y="6381328"/>
            <a:ext cx="2688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AT" sz="1100">
                <a:solidFill>
                  <a:schemeClr val="bg1">
                    <a:lumMod val="50000"/>
                  </a:schemeClr>
                </a:solidFill>
                <a:latin typeface="Adobe Gothic Std B" pitchFamily="34" charset="-128"/>
                <a:ea typeface="Adobe Gothic Std B" pitchFamily="34" charset="-128"/>
              </a:rPr>
              <a:t>www.</a:t>
            </a:r>
            <a:r>
              <a:rPr lang="de-AT" sz="1600">
                <a:solidFill>
                  <a:schemeClr val="bg1">
                    <a:lumMod val="50000"/>
                  </a:schemeClr>
                </a:solidFill>
                <a:latin typeface="Adobe Gothic Std B" pitchFamily="34" charset="-128"/>
                <a:ea typeface="Adobe Gothic Std B" pitchFamily="34" charset="-128"/>
              </a:rPr>
              <a:t>htl-</a:t>
            </a:r>
            <a:r>
              <a:rPr lang="de-AT" sz="1600">
                <a:solidFill>
                  <a:schemeClr val="tx2"/>
                </a:solidFill>
                <a:latin typeface="Adobe Gothic Std B" pitchFamily="34" charset="-128"/>
                <a:ea typeface="Adobe Gothic Std B" pitchFamily="34" charset="-128"/>
              </a:rPr>
              <a:t>leoben</a:t>
            </a:r>
            <a:r>
              <a:rPr lang="de-AT" sz="1100">
                <a:solidFill>
                  <a:schemeClr val="bg1">
                    <a:lumMod val="50000"/>
                  </a:schemeClr>
                </a:solidFill>
                <a:latin typeface="Adobe Gothic Std B" pitchFamily="34" charset="-128"/>
                <a:ea typeface="Adobe Gothic Std B" pitchFamily="34" charset="-128"/>
              </a:rPr>
              <a:t>.at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0AF41BCF-DE93-46E8-96C4-64339D1576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6800" y="259200"/>
            <a:ext cx="6224367" cy="12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057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9158" y="188640"/>
            <a:ext cx="10270380" cy="72008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09600" y="1052739"/>
            <a:ext cx="10972800" cy="507342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B591F-AE7F-406B-977E-415D708CD05B}" type="datetime1">
              <a:rPr lang="de-AT" smtClean="0"/>
              <a:t>07.04.2026</a:t>
            </a:fld>
            <a:endParaRPr lang="de-AT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>
            <a:lvl1pPr>
              <a:defRPr sz="1600" b="1"/>
            </a:lvl1pPr>
          </a:lstStyle>
          <a:p>
            <a:r>
              <a:rPr lang="de-AT"/>
              <a:t>Diplomarbeit Name, Name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  <p:cxnSp>
        <p:nvCxnSpPr>
          <p:cNvPr id="9" name="Gerade Verbindung 8"/>
          <p:cNvCxnSpPr/>
          <p:nvPr userDrawn="1"/>
        </p:nvCxnSpPr>
        <p:spPr>
          <a:xfrm>
            <a:off x="623392" y="980728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8"/>
          <p:cNvCxnSpPr/>
          <p:nvPr userDrawn="1"/>
        </p:nvCxnSpPr>
        <p:spPr>
          <a:xfrm>
            <a:off x="623392" y="6237312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fik 11">
            <a:extLst>
              <a:ext uri="{FF2B5EF4-FFF2-40B4-BE49-F238E27FC236}">
                <a16:creationId xmlns:a16="http://schemas.microsoft.com/office/drawing/2014/main" id="{614C7656-561A-4230-AE49-F934B21548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9600" y="6357600"/>
            <a:ext cx="1780861" cy="37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896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70608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609600" y="103179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0" y="103179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D4213-31A7-43A9-B381-650B72838F3D}" type="datetime1">
              <a:rPr lang="de-AT" smtClean="0"/>
              <a:t>07.04.2026</a:t>
            </a:fld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  <p:cxnSp>
        <p:nvCxnSpPr>
          <p:cNvPr id="26" name="Gerade Verbindung 8">
            <a:extLst>
              <a:ext uri="{FF2B5EF4-FFF2-40B4-BE49-F238E27FC236}">
                <a16:creationId xmlns:a16="http://schemas.microsoft.com/office/drawing/2014/main" id="{B231FD8D-BD46-413B-B98F-46B87457439F}"/>
              </a:ext>
            </a:extLst>
          </p:cNvPr>
          <p:cNvCxnSpPr/>
          <p:nvPr userDrawn="1"/>
        </p:nvCxnSpPr>
        <p:spPr>
          <a:xfrm>
            <a:off x="623392" y="980728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8">
            <a:extLst>
              <a:ext uri="{FF2B5EF4-FFF2-40B4-BE49-F238E27FC236}">
                <a16:creationId xmlns:a16="http://schemas.microsoft.com/office/drawing/2014/main" id="{FF9F6E03-68AB-4FB8-BF89-42F3F9730FF5}"/>
              </a:ext>
            </a:extLst>
          </p:cNvPr>
          <p:cNvCxnSpPr/>
          <p:nvPr userDrawn="1"/>
        </p:nvCxnSpPr>
        <p:spPr>
          <a:xfrm>
            <a:off x="623392" y="6237312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ußzeilenplatzhalter 4">
            <a:extLst>
              <a:ext uri="{FF2B5EF4-FFF2-40B4-BE49-F238E27FC236}">
                <a16:creationId xmlns:a16="http://schemas.microsoft.com/office/drawing/2014/main" id="{61780AA7-F848-43F9-AE0D-14BBE9A66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>
            <a:lvl1pPr>
              <a:defRPr sz="1600" b="1"/>
            </a:lvl1pPr>
          </a:lstStyle>
          <a:p>
            <a:r>
              <a:rPr lang="de-AT"/>
              <a:t>Diplomarbeit Name, Name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16B0F48-B7CD-4678-8B22-ED12B938C2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9600" y="6357600"/>
            <a:ext cx="1780861" cy="37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516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63976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941989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09600" y="1705316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941989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1705316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23C63-4118-48BA-956A-11DEEC1AA07D}" type="datetime1">
              <a:rPr lang="de-AT" smtClean="0"/>
              <a:t>07.04.2026</a:t>
            </a:fld>
            <a:endParaRPr lang="de-AT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  <p:cxnSp>
        <p:nvCxnSpPr>
          <p:cNvPr id="12" name="Gerade Verbindung 8">
            <a:extLst>
              <a:ext uri="{FF2B5EF4-FFF2-40B4-BE49-F238E27FC236}">
                <a16:creationId xmlns:a16="http://schemas.microsoft.com/office/drawing/2014/main" id="{D2F1EB9E-8380-425B-B884-1A5E1DD9E9F2}"/>
              </a:ext>
            </a:extLst>
          </p:cNvPr>
          <p:cNvCxnSpPr/>
          <p:nvPr userDrawn="1"/>
        </p:nvCxnSpPr>
        <p:spPr>
          <a:xfrm>
            <a:off x="623392" y="980728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8">
            <a:extLst>
              <a:ext uri="{FF2B5EF4-FFF2-40B4-BE49-F238E27FC236}">
                <a16:creationId xmlns:a16="http://schemas.microsoft.com/office/drawing/2014/main" id="{C32164E0-C3F5-4411-BA01-05D65208091F}"/>
              </a:ext>
            </a:extLst>
          </p:cNvPr>
          <p:cNvCxnSpPr/>
          <p:nvPr userDrawn="1"/>
        </p:nvCxnSpPr>
        <p:spPr>
          <a:xfrm>
            <a:off x="623392" y="6237312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155BF4B4-4484-4D9C-BFD8-E75462DA4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>
            <a:lvl1pPr>
              <a:defRPr sz="1600" b="1"/>
            </a:lvl1pPr>
          </a:lstStyle>
          <a:p>
            <a:r>
              <a:rPr lang="de-AT"/>
              <a:t>Diplomarbeit Name, Name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5378A7E-CD4F-4738-BF47-8D1B09A913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9600" y="6357600"/>
            <a:ext cx="1780861" cy="37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467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de-AT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600203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B355E-663F-46F6-A58A-7E827B834F26}" type="datetime1">
              <a:rPr lang="de-AT" smtClean="0"/>
              <a:t>07.04.2026</a:t>
            </a:fld>
            <a:endParaRPr lang="de-AT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/>
              <a:t>Diplomarbeit Name, Name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40844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Fußball, Ball, Kreis, Design enthält.">
            <a:extLst>
              <a:ext uri="{FF2B5EF4-FFF2-40B4-BE49-F238E27FC236}">
                <a16:creationId xmlns:a16="http://schemas.microsoft.com/office/drawing/2014/main" id="{405F5207-B391-D8DA-757D-EF4E8F74FE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45" t="5599" r="7060" b="7334"/>
          <a:stretch>
            <a:fillRect/>
          </a:stretch>
        </p:blipFill>
        <p:spPr>
          <a:xfrm>
            <a:off x="795528" y="1593490"/>
            <a:ext cx="4221924" cy="4191657"/>
          </a:xfrm>
          <a:prstGeom prst="rect">
            <a:avLst/>
          </a:prstGeom>
        </p:spPr>
      </p:pic>
      <p:sp>
        <p:nvSpPr>
          <p:cNvPr id="6" name="Rectangle 1026"/>
          <p:cNvSpPr txBox="1">
            <a:spLocks noChangeArrowheads="1"/>
          </p:cNvSpPr>
          <p:nvPr/>
        </p:nvSpPr>
        <p:spPr>
          <a:xfrm>
            <a:off x="5465508" y="2767584"/>
            <a:ext cx="5800312" cy="1015663"/>
          </a:xfrm>
          <a:prstGeom prst="rect">
            <a:avLst/>
          </a:prstGeom>
        </p:spPr>
        <p:txBody>
          <a:bodyPr/>
          <a:lstStyle/>
          <a:p>
            <a:r>
              <a:rPr lang="de-AT" sz="3200" b="1" err="1">
                <a:solidFill>
                  <a:srgbClr val="9BBB59"/>
                </a:solidFill>
              </a:rPr>
              <a:t>DigiKicker</a:t>
            </a:r>
            <a:r>
              <a:rPr lang="de-AT" sz="3200" b="1">
                <a:solidFill>
                  <a:srgbClr val="9BBB59"/>
                </a:solidFill>
              </a:rPr>
              <a:t> – Digitalisierung eines Tischfußballtisches</a:t>
            </a:r>
          </a:p>
          <a:p>
            <a:pPr lvl="0">
              <a:spcBef>
                <a:spcPct val="0"/>
              </a:spcBef>
              <a:defRPr/>
            </a:pPr>
            <a:endParaRPr lang="de-DE" sz="3200">
              <a:solidFill>
                <a:srgbClr val="0070C0"/>
              </a:solidFill>
            </a:endParaRPr>
          </a:p>
        </p:txBody>
      </p:sp>
      <p:sp>
        <p:nvSpPr>
          <p:cNvPr id="7" name="Text Box 1030">
            <a:extLst>
              <a:ext uri="{FF2B5EF4-FFF2-40B4-BE49-F238E27FC236}">
                <a16:creationId xmlns:a16="http://schemas.microsoft.com/office/drawing/2014/main" id="{ED76D2C5-1C5A-49E1-B111-D7EA454A94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2750" y="3901393"/>
            <a:ext cx="6373812" cy="892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54000" bIns="45720" anchor="t">
            <a:spAutoFit/>
          </a:bodyPr>
          <a:lstStyle/>
          <a:p>
            <a:pPr algn="r"/>
            <a:r>
              <a:rPr lang="nl-NL" sz="2000" b="1" dirty="0"/>
              <a:t>Luan Lanzmaier</a:t>
            </a:r>
            <a:endParaRPr lang="nl-NL" sz="2000" b="1" dirty="0">
              <a:ea typeface="Calibri"/>
              <a:cs typeface="Calibri"/>
            </a:endParaRPr>
          </a:p>
          <a:p>
            <a:pPr algn="r"/>
            <a:r>
              <a:rPr lang="nl-NL" sz="1600" dirty="0"/>
              <a:t>André Rath</a:t>
            </a:r>
            <a:endParaRPr lang="nl-NL" sz="1600" dirty="0">
              <a:ea typeface="Calibri"/>
              <a:cs typeface="Calibri"/>
            </a:endParaRPr>
          </a:p>
          <a:p>
            <a:pPr algn="r"/>
            <a:r>
              <a:rPr lang="nl-NL" sz="1600" dirty="0"/>
              <a:t>Nikita Schaar</a:t>
            </a:r>
          </a:p>
        </p:txBody>
      </p:sp>
      <p:sp>
        <p:nvSpPr>
          <p:cNvPr id="8" name="Text Box 1030">
            <a:extLst>
              <a:ext uri="{FF2B5EF4-FFF2-40B4-BE49-F238E27FC236}">
                <a16:creationId xmlns:a16="http://schemas.microsoft.com/office/drawing/2014/main" id="{7CF2A42E-995E-450D-9017-7EE5A0A26C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2750" y="4900341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/>
          <a:p>
            <a:pPr algn="r"/>
            <a:r>
              <a:rPr lang="de-AT"/>
              <a:t>08.04.2026</a:t>
            </a:r>
          </a:p>
        </p:txBody>
      </p:sp>
      <p:sp>
        <p:nvSpPr>
          <p:cNvPr id="5" name="Text Box 1030">
            <a:extLst>
              <a:ext uri="{FF2B5EF4-FFF2-40B4-BE49-F238E27FC236}">
                <a16:creationId xmlns:a16="http://schemas.microsoft.com/office/drawing/2014/main" id="{549EEA25-235A-4DB2-B18D-8226E1B72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2750" y="5339355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AT"/>
              <a:t>Betreuer/in: Günther Hutter, Thomas Messner</a:t>
            </a:r>
          </a:p>
        </p:txBody>
      </p:sp>
      <p:sp>
        <p:nvSpPr>
          <p:cNvPr id="9" name="Text Box 1030">
            <a:extLst>
              <a:ext uri="{FF2B5EF4-FFF2-40B4-BE49-F238E27FC236}">
                <a16:creationId xmlns:a16="http://schemas.microsoft.com/office/drawing/2014/main" id="{0CE138CF-753E-4573-B47E-8055A445E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2750" y="5691972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AT"/>
              <a:t>Firmenpartner: HTL Leoben</a:t>
            </a:r>
          </a:p>
        </p:txBody>
      </p:sp>
    </p:spTree>
    <p:extLst>
      <p:ext uri="{BB962C8B-B14F-4D97-AF65-F5344CB8AC3E}">
        <p14:creationId xmlns:p14="http://schemas.microsoft.com/office/powerpoint/2010/main" val="341826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Agenda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17948" y="976539"/>
            <a:ext cx="10972800" cy="5290911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>
              <a:lnSpc>
                <a:spcPct val="150000"/>
              </a:lnSpc>
              <a:buChar char="•"/>
            </a:pPr>
            <a:r>
              <a:rPr lang="de-AT" sz="2000">
                <a:ea typeface="+mn-lt"/>
                <a:cs typeface="+mn-lt"/>
              </a:rPr>
              <a:t>3D-Modellierung: Erstellung der Assets in Blender </a:t>
            </a:r>
            <a:endParaRPr lang="en-US" sz="2000">
              <a:ea typeface="Calibri"/>
              <a:cs typeface="Calibri"/>
            </a:endParaRPr>
          </a:p>
          <a:p>
            <a:pPr lvl="1">
              <a:lnSpc>
                <a:spcPct val="150000"/>
              </a:lnSpc>
              <a:buChar char="•"/>
            </a:pPr>
            <a:r>
              <a:rPr lang="de-AT" sz="2000">
                <a:ea typeface="+mn-lt"/>
                <a:cs typeface="+mn-lt"/>
              </a:rPr>
              <a:t>Asset-Optimierung: Polygonreduktion &amp; Performance </a:t>
            </a:r>
            <a:endParaRPr lang="de-AT">
              <a:ea typeface="Calibri"/>
              <a:cs typeface="Calibri"/>
            </a:endParaRPr>
          </a:p>
          <a:p>
            <a:pPr lvl="1">
              <a:lnSpc>
                <a:spcPct val="150000"/>
              </a:lnSpc>
              <a:buChar char="•"/>
            </a:pPr>
            <a:r>
              <a:rPr lang="de-AT" sz="2000">
                <a:ea typeface="+mn-lt"/>
                <a:cs typeface="+mn-lt"/>
              </a:rPr>
              <a:t>Texturierung: Erstellung und </a:t>
            </a:r>
            <a:r>
              <a:rPr lang="de-AT" sz="2000" err="1">
                <a:ea typeface="+mn-lt"/>
                <a:cs typeface="+mn-lt"/>
              </a:rPr>
              <a:t>Baking</a:t>
            </a:r>
            <a:r>
              <a:rPr lang="de-AT" sz="2000">
                <a:ea typeface="+mn-lt"/>
                <a:cs typeface="+mn-lt"/>
              </a:rPr>
              <a:t> von </a:t>
            </a:r>
            <a:r>
              <a:rPr lang="de-AT" sz="2000" err="1">
                <a:ea typeface="+mn-lt"/>
                <a:cs typeface="+mn-lt"/>
              </a:rPr>
              <a:t>Texture</a:t>
            </a:r>
            <a:r>
              <a:rPr lang="de-AT" sz="2000">
                <a:ea typeface="+mn-lt"/>
                <a:cs typeface="+mn-lt"/>
              </a:rPr>
              <a:t> Maps </a:t>
            </a:r>
            <a:endParaRPr lang="de-AT">
              <a:ea typeface="Calibri"/>
              <a:cs typeface="Calibri"/>
            </a:endParaRPr>
          </a:p>
          <a:p>
            <a:pPr lvl="1">
              <a:lnSpc>
                <a:spcPct val="150000"/>
              </a:lnSpc>
              <a:buChar char="•"/>
            </a:pPr>
            <a:r>
              <a:rPr lang="de-AT" sz="2000">
                <a:ea typeface="+mn-lt"/>
                <a:cs typeface="+mn-lt"/>
              </a:rPr>
              <a:t>Engine-Integration: Import und Prüfung in Godot </a:t>
            </a:r>
            <a:endParaRPr lang="de-AT">
              <a:ea typeface="Calibri"/>
              <a:cs typeface="Calibri"/>
            </a:endParaRPr>
          </a:p>
          <a:p>
            <a:pPr lvl="1">
              <a:lnSpc>
                <a:spcPct val="150000"/>
              </a:lnSpc>
              <a:buChar char="•"/>
            </a:pPr>
            <a:r>
              <a:rPr lang="de-AT" sz="2000">
                <a:ea typeface="+mn-lt"/>
                <a:cs typeface="+mn-lt"/>
              </a:rPr>
              <a:t>Multiplayer-Konzept: Recherche und theoretische Ausarbeitung</a:t>
            </a:r>
            <a:endParaRPr lang="de-AT">
              <a:ea typeface="Calibri"/>
              <a:cs typeface="Calibri"/>
            </a:endParaRPr>
          </a:p>
          <a:p>
            <a:pPr lvl="1">
              <a:lnSpc>
                <a:spcPct val="150000"/>
              </a:lnSpc>
              <a:buChar char="•"/>
            </a:pPr>
            <a:endParaRPr lang="de-AT" sz="2000">
              <a:ea typeface="Calibri"/>
              <a:cs typeface="Calibri"/>
            </a:endParaRPr>
          </a:p>
        </p:txBody>
      </p:sp>
      <p:sp>
        <p:nvSpPr>
          <p:cNvPr id="4" name="Fusszeile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Lanzmaier</a:t>
            </a:r>
          </a:p>
        </p:txBody>
      </p:sp>
      <p:sp>
        <p:nvSpPr>
          <p:cNvPr id="5" name="Slide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2</a:t>
            </a:fld>
            <a:endParaRPr lang="de-AT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/>
              <a:t>Erstellung der Assets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17948" y="976539"/>
            <a:ext cx="5800000" cy="5290911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de-AT" sz="2400" b="1">
                <a:solidFill>
                  <a:srgbClr val="0070C0"/>
                </a:solidFill>
                <a:ea typeface="+mn-lt"/>
                <a:cs typeface="+mn-lt"/>
              </a:rPr>
              <a:t>Referenzanalyse</a:t>
            </a:r>
            <a:endParaRPr lang="de-AT" sz="2400" b="1">
              <a:solidFill>
                <a:srgbClr val="0070C0"/>
              </a:solidFill>
              <a:ea typeface="Calibri"/>
              <a:cs typeface="Calibri"/>
            </a:endParaRPr>
          </a:p>
          <a:p>
            <a:pPr lvl="1" indent="-342900">
              <a:buFont typeface="Arial" pitchFamily="34" charset="0"/>
              <a:buChar char="•"/>
            </a:pPr>
            <a:r>
              <a:rPr lang="de-AT" sz="1800">
                <a:ea typeface="+mn-lt"/>
                <a:cs typeface="+mn-lt"/>
              </a:rPr>
              <a:t>Reale Tischfußballfiguren betrachtet </a:t>
            </a:r>
            <a:endParaRPr lang="de-AT" sz="1800">
              <a:ea typeface="Calibri"/>
              <a:cs typeface="Calibri"/>
            </a:endParaRPr>
          </a:p>
          <a:p>
            <a:pPr lvl="1">
              <a:buFont typeface="Arial" pitchFamily="34" charset="0"/>
              <a:buChar char="•"/>
            </a:pPr>
            <a:r>
              <a:rPr lang="de-AT" sz="1800">
                <a:ea typeface="+mn-lt"/>
                <a:cs typeface="+mn-lt"/>
              </a:rPr>
              <a:t>Proportionen, Farben, Körperbau übernommen</a:t>
            </a:r>
            <a:endParaRPr lang="de-AT" sz="1800">
              <a:ea typeface="Calibri"/>
              <a:cs typeface="Calibri"/>
            </a:endParaRPr>
          </a:p>
          <a:p>
            <a:pPr marL="457200" lvl="1" indent="0">
              <a:buNone/>
            </a:pPr>
            <a:endParaRPr lang="de-AT" sz="1800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buChar char="•"/>
            </a:pPr>
            <a:r>
              <a:rPr lang="de-AT" sz="2400" b="1">
                <a:solidFill>
                  <a:srgbClr val="0070C0"/>
                </a:solidFill>
                <a:ea typeface="+mn-lt"/>
                <a:cs typeface="+mn-lt"/>
              </a:rPr>
              <a:t>Grundmodellierung</a:t>
            </a:r>
            <a:endParaRPr lang="de-AT"/>
          </a:p>
          <a:p>
            <a:pPr lvl="1" indent="-342900">
              <a:buFont typeface="Arial" pitchFamily="34" charset="0"/>
              <a:buChar char="•"/>
            </a:pPr>
            <a:r>
              <a:rPr lang="de-AT" sz="1800">
                <a:ea typeface="+mn-lt"/>
                <a:cs typeface="+mn-lt"/>
              </a:rPr>
              <a:t>Low-Poly-Modell erstellt </a:t>
            </a:r>
            <a:endParaRPr lang="de-AT" sz="1800">
              <a:ea typeface="Calibri"/>
              <a:cs typeface="Calibri"/>
            </a:endParaRPr>
          </a:p>
          <a:p>
            <a:pPr lvl="1" indent="-342900">
              <a:buFont typeface="Arial" pitchFamily="34" charset="0"/>
              <a:buChar char="•"/>
            </a:pPr>
            <a:r>
              <a:rPr lang="de-AT" sz="1800">
                <a:ea typeface="+mn-lt"/>
                <a:cs typeface="+mn-lt"/>
              </a:rPr>
              <a:t>Basisform grob mit </a:t>
            </a:r>
            <a:r>
              <a:rPr lang="de-AT" sz="1800" err="1">
                <a:ea typeface="+mn-lt"/>
                <a:cs typeface="+mn-lt"/>
              </a:rPr>
              <a:t>Sculpt</a:t>
            </a:r>
            <a:r>
              <a:rPr lang="de-AT" sz="1800">
                <a:ea typeface="+mn-lt"/>
                <a:cs typeface="+mn-lt"/>
              </a:rPr>
              <a:t>-Tools angepasst </a:t>
            </a:r>
            <a:endParaRPr lang="de-AT" sz="1800">
              <a:ea typeface="Calibri"/>
              <a:cs typeface="Calibri"/>
            </a:endParaRPr>
          </a:p>
          <a:p>
            <a:pPr marL="400050" lvl="1" indent="0">
              <a:buNone/>
            </a:pPr>
            <a:endParaRPr lang="de-AT" sz="180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de-AT" sz="2400" b="1">
                <a:solidFill>
                  <a:srgbClr val="0070C0"/>
                </a:solidFill>
                <a:ea typeface="+mn-lt"/>
                <a:cs typeface="+mn-lt"/>
              </a:rPr>
              <a:t>Detailmodellierung</a:t>
            </a:r>
            <a:endParaRPr lang="de-AT"/>
          </a:p>
          <a:p>
            <a:pPr lvl="1" indent="-342900">
              <a:buFont typeface="Arial" pitchFamily="34" charset="0"/>
              <a:buChar char="•"/>
            </a:pPr>
            <a:r>
              <a:rPr lang="de-AT" sz="1800">
                <a:ea typeface="+mn-lt"/>
                <a:cs typeface="+mn-lt"/>
              </a:rPr>
              <a:t>Subdivision Surface für feinere Geometrie </a:t>
            </a:r>
            <a:endParaRPr lang="de-AT" sz="1800">
              <a:ea typeface="Calibri"/>
              <a:cs typeface="Calibri"/>
            </a:endParaRPr>
          </a:p>
          <a:p>
            <a:pPr lvl="1">
              <a:buFont typeface="Arial" pitchFamily="34" charset="0"/>
              <a:buChar char="•"/>
            </a:pPr>
            <a:r>
              <a:rPr lang="de-AT" sz="1800" err="1">
                <a:ea typeface="+mn-lt"/>
                <a:cs typeface="+mn-lt"/>
              </a:rPr>
              <a:t>Sculpting</a:t>
            </a:r>
            <a:r>
              <a:rPr lang="de-AT" sz="1800">
                <a:ea typeface="+mn-lt"/>
                <a:cs typeface="+mn-lt"/>
              </a:rPr>
              <a:t> für Details, Formen und Strukturen </a:t>
            </a:r>
            <a:endParaRPr lang="de-AT" sz="1800">
              <a:ea typeface="Calibri"/>
              <a:cs typeface="Calibri"/>
            </a:endParaRPr>
          </a:p>
          <a:p>
            <a:pPr marL="457200" lvl="1" indent="0">
              <a:buNone/>
            </a:pPr>
            <a:endParaRPr lang="de-AT" sz="1800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buChar char="•"/>
            </a:pPr>
            <a:r>
              <a:rPr lang="de-AT" sz="2400" b="1">
                <a:solidFill>
                  <a:srgbClr val="0070C0"/>
                </a:solidFill>
                <a:ea typeface="+mn-lt"/>
                <a:cs typeface="+mn-lt"/>
              </a:rPr>
              <a:t>Feinjustierung</a:t>
            </a:r>
            <a:endParaRPr lang="de-AT"/>
          </a:p>
          <a:p>
            <a:pPr lvl="1">
              <a:buFont typeface="Arial" pitchFamily="34" charset="0"/>
              <a:buChar char="•"/>
            </a:pPr>
            <a:r>
              <a:rPr lang="de-AT" sz="1800">
                <a:ea typeface="+mn-lt"/>
                <a:cs typeface="+mn-lt"/>
              </a:rPr>
              <a:t>Polygone optimiert </a:t>
            </a:r>
            <a:endParaRPr lang="de-AT" sz="1800">
              <a:ea typeface="Calibri"/>
              <a:cs typeface="Calibri"/>
            </a:endParaRPr>
          </a:p>
          <a:p>
            <a:pPr lvl="1">
              <a:buFont typeface="Arial" pitchFamily="34" charset="0"/>
              <a:buChar char="•"/>
            </a:pPr>
            <a:r>
              <a:rPr lang="de-AT" sz="1800">
                <a:ea typeface="+mn-lt"/>
                <a:cs typeface="+mn-lt"/>
              </a:rPr>
              <a:t>Topologie überprüft und angepasst</a:t>
            </a:r>
            <a:endParaRPr lang="de-AT" sz="1800">
              <a:ea typeface="Calibri"/>
              <a:cs typeface="Calibri"/>
            </a:endParaRPr>
          </a:p>
          <a:p>
            <a:pPr marL="457200" indent="-457200">
              <a:buAutoNum type="arabicPeriod"/>
            </a:pPr>
            <a:endParaRPr lang="de-AT" sz="2400" b="1">
              <a:solidFill>
                <a:srgbClr val="0070C0"/>
              </a:solidFill>
              <a:ea typeface="Calibri"/>
              <a:cs typeface="Calibri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Lanzmaier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3</a:t>
            </a:fld>
            <a:endParaRPr lang="de-AT"/>
          </a:p>
        </p:txBody>
      </p:sp>
      <p:pic>
        <p:nvPicPr>
          <p:cNvPr id="9" name="Picture 8" descr="Finalisierung der Gesichtsfeatures [@face-features-finalization]">
            <a:extLst>
              <a:ext uri="{FF2B5EF4-FFF2-40B4-BE49-F238E27FC236}">
                <a16:creationId xmlns:a16="http://schemas.microsoft.com/office/drawing/2014/main" id="{6963B3B7-C638-A1C8-2196-8D598CE83A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8126" y="976899"/>
            <a:ext cx="4736924" cy="2628639"/>
          </a:xfrm>
          <a:prstGeom prst="rect">
            <a:avLst/>
          </a:prstGeom>
        </p:spPr>
      </p:pic>
      <p:pic>
        <p:nvPicPr>
          <p:cNvPr id="10" name="Picture 9" descr="High-Poly Modell der Kopf-Mesh [@high-poly-head]">
            <a:extLst>
              <a:ext uri="{FF2B5EF4-FFF2-40B4-BE49-F238E27FC236}">
                <a16:creationId xmlns:a16="http://schemas.microsoft.com/office/drawing/2014/main" id="{CE7F5F58-0E39-2A09-21E4-F79E33119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168" t="22759" r="38756" b="26667"/>
          <a:stretch>
            <a:fillRect/>
          </a:stretch>
        </p:blipFill>
        <p:spPr>
          <a:xfrm>
            <a:off x="6718126" y="3747370"/>
            <a:ext cx="4728477" cy="25168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Asset-Optimierung</a:t>
            </a:r>
            <a:endParaRPr lang="en-US"/>
          </a:p>
        </p:txBody>
      </p:sp>
      <p:sp>
        <p:nvSpPr>
          <p:cNvPr id="4" name="Fz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Lanzmaier</a:t>
            </a:r>
          </a:p>
        </p:txBody>
      </p:sp>
      <p:sp>
        <p:nvSpPr>
          <p:cNvPr id="5" name="Sn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4</a:t>
            </a:fld>
            <a:endParaRPr lang="de-AT"/>
          </a:p>
        </p:txBody>
      </p:sp>
      <p:sp>
        <p:nvSpPr>
          <p:cNvPr id="10" name="ContentBox"/>
          <p:cNvSpPr>
            <a:spLocks noGrp="1"/>
          </p:cNvSpPr>
          <p:nvPr/>
        </p:nvSpPr>
        <p:spPr>
          <a:xfrm>
            <a:off x="635000" y="1143000"/>
            <a:ext cx="10922000" cy="508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de-AT" sz="2400" b="1">
                <a:solidFill>
                  <a:srgbClr val="0070C0"/>
                </a:solidFill>
              </a:rPr>
              <a:t>Methoden der Asset-Optimierung</a:t>
            </a:r>
          </a:p>
          <a:p>
            <a:pPr marL="342900" indent="-342900">
              <a:lnSpc>
                <a:spcPct val="150000"/>
              </a:lnSpc>
              <a:buFont typeface="Arial"/>
              <a:buChar char="•"/>
            </a:pPr>
            <a:r>
              <a:rPr lang="de-AT" b="1" err="1"/>
              <a:t>Retopology</a:t>
            </a:r>
            <a:r>
              <a:rPr lang="de-AT" b="1"/>
              <a:t> </a:t>
            </a:r>
            <a:r>
              <a:rPr lang="de-AT"/>
              <a:t>– </a:t>
            </a:r>
            <a:r>
              <a:rPr lang="de-AT">
                <a:ea typeface="+mn-lt"/>
                <a:cs typeface="+mn-lt"/>
              </a:rPr>
              <a:t>Reduktion der Polygonanzahl bei gleicher Form</a:t>
            </a:r>
            <a:endParaRPr lang="de-AT" sz="1800">
              <a:ea typeface="Calibri"/>
              <a:cs typeface="Calibri"/>
            </a:endParaRPr>
          </a:p>
          <a:p>
            <a:pPr marL="342900" indent="-342900">
              <a:lnSpc>
                <a:spcPct val="150000"/>
              </a:lnSpc>
              <a:buChar char="•"/>
            </a:pPr>
            <a:r>
              <a:rPr lang="de-AT" b="1">
                <a:ea typeface="Calibri"/>
                <a:cs typeface="Calibri"/>
              </a:rPr>
              <a:t>Normal-</a:t>
            </a:r>
            <a:r>
              <a:rPr lang="de-AT" b="1" err="1">
                <a:ea typeface="Calibri"/>
                <a:cs typeface="Calibri"/>
              </a:rPr>
              <a:t>Map</a:t>
            </a:r>
            <a:r>
              <a:rPr lang="de-AT">
                <a:ea typeface="Calibri"/>
                <a:cs typeface="Calibri"/>
              </a:rPr>
              <a:t> – "Illusion" einer High-Poly-Version</a:t>
            </a:r>
          </a:p>
          <a:p>
            <a:pPr marL="342900" indent="-342900">
              <a:lnSpc>
                <a:spcPct val="150000"/>
              </a:lnSpc>
              <a:buChar char="•"/>
            </a:pPr>
            <a:r>
              <a:rPr lang="de-AT" b="1" err="1"/>
              <a:t>Texture</a:t>
            </a:r>
            <a:r>
              <a:rPr lang="de-AT" b="1"/>
              <a:t>-Atlas</a:t>
            </a:r>
            <a:r>
              <a:rPr lang="de-AT"/>
              <a:t> – Minimierung von Materi</a:t>
            </a:r>
            <a:r>
              <a:rPr lang="de-AT">
                <a:ea typeface="Calibri"/>
                <a:cs typeface="Calibri"/>
              </a:rPr>
              <a:t>alien</a:t>
            </a:r>
            <a:endParaRPr lang="de-AT" sz="1800">
              <a:ea typeface="Calibri"/>
              <a:cs typeface="Calibri"/>
            </a:endParaRPr>
          </a:p>
        </p:txBody>
      </p:sp>
      <p:pic>
        <p:nvPicPr>
          <p:cNvPr id="11" name="Picture 10" descr="Retopology [@retopology]">
            <a:extLst>
              <a:ext uri="{FF2B5EF4-FFF2-40B4-BE49-F238E27FC236}">
                <a16:creationId xmlns:a16="http://schemas.microsoft.com/office/drawing/2014/main" id="{D06A909E-94B1-04D9-6CFA-F42B03E348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3938" b="2724"/>
          <a:stretch>
            <a:fillRect/>
          </a:stretch>
        </p:blipFill>
        <p:spPr>
          <a:xfrm>
            <a:off x="768263" y="3320112"/>
            <a:ext cx="2016012" cy="2612233"/>
          </a:xfrm>
          <a:prstGeom prst="rect">
            <a:avLst/>
          </a:prstGeom>
        </p:spPr>
      </p:pic>
      <p:pic>
        <p:nvPicPr>
          <p:cNvPr id="12" name="Picture 11" descr="Low-Poly-Modell Kopf [@low-poly-head]">
            <a:extLst>
              <a:ext uri="{FF2B5EF4-FFF2-40B4-BE49-F238E27FC236}">
                <a16:creationId xmlns:a16="http://schemas.microsoft.com/office/drawing/2014/main" id="{BDD56E73-AFF5-308D-5A23-7B5D4420B5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038" t="10135" r="42585" b="17568"/>
          <a:stretch>
            <a:fillRect/>
          </a:stretch>
        </p:blipFill>
        <p:spPr>
          <a:xfrm>
            <a:off x="2782866" y="3315090"/>
            <a:ext cx="1794828" cy="2618709"/>
          </a:xfrm>
          <a:prstGeom prst="rect">
            <a:avLst/>
          </a:prstGeom>
        </p:spPr>
      </p:pic>
      <p:pic>
        <p:nvPicPr>
          <p:cNvPr id="13" name="Picture 12" descr="Kopf nach Anwendung der Normal Map [@head-with-normal-map]">
            <a:extLst>
              <a:ext uri="{FF2B5EF4-FFF2-40B4-BE49-F238E27FC236}">
                <a16:creationId xmlns:a16="http://schemas.microsoft.com/office/drawing/2014/main" id="{4C50D82C-DF53-A72E-7F6B-BABDC094EA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797" t="25862" r="52898" b="41379"/>
          <a:stretch>
            <a:fillRect/>
          </a:stretch>
        </p:blipFill>
        <p:spPr>
          <a:xfrm>
            <a:off x="5559469" y="3323487"/>
            <a:ext cx="2035143" cy="2599895"/>
          </a:xfrm>
          <a:prstGeom prst="rect">
            <a:avLst/>
          </a:prstGeom>
        </p:spPr>
      </p:pic>
      <p:pic>
        <p:nvPicPr>
          <p:cNvPr id="16" name="Picture 15" descr="Diffuse Map Character-Asset [@diffuse-map-character]">
            <a:extLst>
              <a:ext uri="{FF2B5EF4-FFF2-40B4-BE49-F238E27FC236}">
                <a16:creationId xmlns:a16="http://schemas.microsoft.com/office/drawing/2014/main" id="{208286E7-E91B-CC47-8EDF-BE879F40A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2646" y="2913344"/>
            <a:ext cx="1657612" cy="1626297"/>
          </a:xfrm>
          <a:prstGeom prst="rect">
            <a:avLst/>
          </a:prstGeom>
        </p:spPr>
      </p:pic>
      <p:pic>
        <p:nvPicPr>
          <p:cNvPr id="18" name="Picture 17" descr="Normal Map Character-Asset [@normal-map-character]">
            <a:extLst>
              <a:ext uri="{FF2B5EF4-FFF2-40B4-BE49-F238E27FC236}">
                <a16:creationId xmlns:a16="http://schemas.microsoft.com/office/drawing/2014/main" id="{BD6215BE-64D4-4202-CC73-3C37F53E46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8154" y="4541727"/>
            <a:ext cx="1699366" cy="1668051"/>
          </a:xfrm>
          <a:prstGeom prst="rect">
            <a:avLst/>
          </a:prstGeom>
        </p:spPr>
      </p:pic>
      <p:pic>
        <p:nvPicPr>
          <p:cNvPr id="20" name="Picture 19" descr="Roughness Map Character-Asset [@roughness-map-character]">
            <a:extLst>
              <a:ext uri="{FF2B5EF4-FFF2-40B4-BE49-F238E27FC236}">
                <a16:creationId xmlns:a16="http://schemas.microsoft.com/office/drawing/2014/main" id="{D03C2C31-B908-CCF6-10D5-C55A8F6149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83657" y="2913343"/>
            <a:ext cx="1657614" cy="1626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4119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>
                <a:ea typeface="Calibri"/>
                <a:cs typeface="Calibri"/>
              </a:rPr>
              <a:t>Erstellung und </a:t>
            </a:r>
            <a:r>
              <a:rPr lang="de-AT" err="1">
                <a:ea typeface="Calibri"/>
                <a:cs typeface="Calibri"/>
              </a:rPr>
              <a:t>Baking</a:t>
            </a:r>
            <a:r>
              <a:rPr lang="de-AT">
                <a:ea typeface="Calibri"/>
                <a:cs typeface="Calibri"/>
              </a:rPr>
              <a:t> von </a:t>
            </a:r>
            <a:r>
              <a:rPr lang="de-AT" err="1">
                <a:ea typeface="Calibri"/>
                <a:cs typeface="Calibri"/>
              </a:rPr>
              <a:t>Texture</a:t>
            </a:r>
            <a:r>
              <a:rPr lang="de-AT">
                <a:ea typeface="Calibri"/>
                <a:cs typeface="Calibri"/>
              </a:rPr>
              <a:t> Maps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27594" y="1044058"/>
            <a:ext cx="7931671" cy="5117291"/>
          </a:xfr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rmAutofit/>
          </a:bodyPr>
          <a:lstStyle/>
          <a:p>
            <a:r>
              <a:rPr lang="de-AT" sz="2400" b="1">
                <a:solidFill>
                  <a:srgbClr val="0070C0"/>
                </a:solidFill>
                <a:ea typeface="Calibri"/>
                <a:cs typeface="Calibri"/>
              </a:rPr>
              <a:t>Im Projekt verwendete </a:t>
            </a:r>
            <a:r>
              <a:rPr lang="de-AT" sz="2400" b="1" err="1">
                <a:solidFill>
                  <a:srgbClr val="0070C0"/>
                </a:solidFill>
                <a:ea typeface="Calibri"/>
                <a:cs typeface="Calibri"/>
              </a:rPr>
              <a:t>Texture</a:t>
            </a:r>
            <a:r>
              <a:rPr lang="de-AT" sz="2400" b="1">
                <a:solidFill>
                  <a:srgbClr val="0070C0"/>
                </a:solidFill>
                <a:ea typeface="Calibri"/>
                <a:cs typeface="Calibri"/>
              </a:rPr>
              <a:t> Maps</a:t>
            </a:r>
          </a:p>
          <a:p>
            <a:pPr lvl="1">
              <a:buChar char="•"/>
            </a:pPr>
            <a:r>
              <a:rPr lang="de-AT" sz="1800">
                <a:ea typeface="Calibri"/>
                <a:cs typeface="Calibri"/>
              </a:rPr>
              <a:t>Normal </a:t>
            </a:r>
            <a:r>
              <a:rPr lang="de-AT" sz="1800" err="1">
                <a:ea typeface="Calibri"/>
                <a:cs typeface="Calibri"/>
              </a:rPr>
              <a:t>Map</a:t>
            </a:r>
            <a:endParaRPr lang="de-AT" sz="1800">
              <a:ea typeface="Calibri"/>
              <a:cs typeface="Calibri"/>
            </a:endParaRPr>
          </a:p>
          <a:p>
            <a:pPr lvl="1">
              <a:buChar char="•"/>
            </a:pPr>
            <a:r>
              <a:rPr lang="de-AT" sz="1800">
                <a:ea typeface="Calibri"/>
                <a:cs typeface="Calibri"/>
              </a:rPr>
              <a:t>Diffuse </a:t>
            </a:r>
            <a:r>
              <a:rPr lang="de-AT" sz="1800" err="1">
                <a:ea typeface="Calibri"/>
                <a:cs typeface="Calibri"/>
              </a:rPr>
              <a:t>Map</a:t>
            </a:r>
            <a:endParaRPr lang="de-AT" sz="1800">
              <a:ea typeface="Calibri"/>
              <a:cs typeface="Calibri"/>
            </a:endParaRPr>
          </a:p>
          <a:p>
            <a:pPr lvl="1">
              <a:buChar char="•"/>
            </a:pPr>
            <a:r>
              <a:rPr lang="de-AT" sz="1800" err="1">
                <a:ea typeface="Calibri"/>
                <a:cs typeface="Calibri"/>
              </a:rPr>
              <a:t>Roughness</a:t>
            </a:r>
            <a:r>
              <a:rPr lang="de-AT" sz="1800">
                <a:ea typeface="Calibri"/>
                <a:cs typeface="Calibri"/>
              </a:rPr>
              <a:t> </a:t>
            </a:r>
            <a:r>
              <a:rPr lang="de-AT" sz="1800" err="1">
                <a:ea typeface="Calibri"/>
                <a:cs typeface="Calibri"/>
              </a:rPr>
              <a:t>Map</a:t>
            </a:r>
            <a:endParaRPr lang="de-AT" sz="1800">
              <a:ea typeface="Calibri"/>
              <a:cs typeface="Calibri"/>
            </a:endParaRPr>
          </a:p>
          <a:p>
            <a:pPr lvl="1">
              <a:buChar char="•"/>
            </a:pPr>
            <a:r>
              <a:rPr lang="de-AT" sz="1800">
                <a:ea typeface="Calibri"/>
                <a:cs typeface="Calibri"/>
              </a:rPr>
              <a:t>Emission </a:t>
            </a:r>
            <a:r>
              <a:rPr lang="de-AT" sz="1800" err="1">
                <a:ea typeface="Calibri"/>
                <a:cs typeface="Calibri"/>
              </a:rPr>
              <a:t>Map</a:t>
            </a:r>
            <a:r>
              <a:rPr lang="de-AT" sz="1800">
                <a:ea typeface="Calibri"/>
                <a:cs typeface="Calibri"/>
              </a:rPr>
              <a:t> - später wieder verworfen</a:t>
            </a:r>
          </a:p>
          <a:p>
            <a:pPr marL="457200" lvl="1" indent="0">
              <a:buNone/>
            </a:pPr>
            <a:endParaRPr lang="de-AT" sz="2000" b="1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de-AT" sz="2400" b="1">
                <a:solidFill>
                  <a:srgbClr val="0070C0"/>
                </a:solidFill>
                <a:ea typeface="Calibri"/>
                <a:cs typeface="Calibri"/>
              </a:rPr>
              <a:t>Anwendung und Prozess in Blender</a:t>
            </a:r>
          </a:p>
          <a:p>
            <a:pPr lvl="1">
              <a:buChar char="•"/>
            </a:pPr>
            <a:r>
              <a:rPr lang="de-AT" sz="1800">
                <a:ea typeface="Calibri"/>
                <a:cs typeface="Calibri"/>
              </a:rPr>
              <a:t>Im Shader Editor  - als Image-</a:t>
            </a:r>
            <a:r>
              <a:rPr lang="de-AT" sz="1800" err="1">
                <a:ea typeface="Calibri"/>
                <a:cs typeface="Calibri"/>
              </a:rPr>
              <a:t>Texture</a:t>
            </a:r>
            <a:r>
              <a:rPr lang="de-AT" sz="1800">
                <a:ea typeface="Calibri"/>
                <a:cs typeface="Calibri"/>
              </a:rPr>
              <a:t> darstellbar</a:t>
            </a:r>
          </a:p>
          <a:p>
            <a:pPr lvl="1">
              <a:buChar char="•"/>
            </a:pPr>
            <a:r>
              <a:rPr lang="de-AT" sz="1800">
                <a:ea typeface="Calibri"/>
                <a:cs typeface="Calibri"/>
              </a:rPr>
              <a:t>Beim Baken - </a:t>
            </a:r>
            <a:r>
              <a:rPr lang="de-AT" sz="1800">
                <a:ea typeface="+mn-lt"/>
                <a:cs typeface="+mn-lt"/>
              </a:rPr>
              <a:t>Details via UV-</a:t>
            </a:r>
            <a:r>
              <a:rPr lang="de-AT" sz="1800" err="1">
                <a:ea typeface="+mn-lt"/>
                <a:cs typeface="+mn-lt"/>
              </a:rPr>
              <a:t>Map</a:t>
            </a:r>
            <a:r>
              <a:rPr lang="de-AT" sz="1800">
                <a:ea typeface="+mn-lt"/>
                <a:cs typeface="+mn-lt"/>
              </a:rPr>
              <a:t> auf PNG übertragen</a:t>
            </a:r>
            <a:endParaRPr lang="de-AT" sz="1800">
              <a:ea typeface="Calibri"/>
              <a:cs typeface="Calibri"/>
            </a:endParaRPr>
          </a:p>
          <a:p>
            <a:pPr lvl="1">
              <a:buChar char="•"/>
            </a:pPr>
            <a:r>
              <a:rPr lang="de-AT" sz="1800">
                <a:ea typeface="Calibri"/>
                <a:cs typeface="Calibri"/>
              </a:rPr>
              <a:t>Speicherbar als PNG-Datei</a:t>
            </a:r>
          </a:p>
          <a:p>
            <a:pPr lvl="1">
              <a:buChar char="•"/>
            </a:pPr>
            <a:endParaRPr lang="de-AT" sz="2000">
              <a:solidFill>
                <a:srgbClr val="0070C0"/>
              </a:solidFill>
              <a:ea typeface="Calibri"/>
              <a:cs typeface="Calibri"/>
            </a:endParaRPr>
          </a:p>
          <a:p>
            <a:pPr lvl="1"/>
            <a:endParaRPr lang="de-AT" sz="1800">
              <a:ea typeface="Calibri"/>
              <a:cs typeface="Calibri"/>
            </a:endParaRPr>
          </a:p>
          <a:p>
            <a:endParaRPr lang="de-AT">
              <a:ea typeface="Calibri"/>
              <a:cs typeface="Calibri"/>
            </a:endParaRPr>
          </a:p>
        </p:txBody>
      </p:sp>
      <p:sp>
        <p:nvSpPr>
          <p:cNvPr id="4" name="Fusszeile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Lanzmaier</a:t>
            </a:r>
          </a:p>
        </p:txBody>
      </p:sp>
      <p:sp>
        <p:nvSpPr>
          <p:cNvPr id="5" name="Slide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5</a:t>
            </a:fld>
            <a:endParaRPr lang="de-AT"/>
          </a:p>
        </p:txBody>
      </p:sp>
      <p:pic>
        <p:nvPicPr>
          <p:cNvPr id="7" name="Picture 6" descr="Fertig modelliertes Character-Asset [@finished-asset]">
            <a:extLst>
              <a:ext uri="{FF2B5EF4-FFF2-40B4-BE49-F238E27FC236}">
                <a16:creationId xmlns:a16="http://schemas.microsoft.com/office/drawing/2014/main" id="{EDFADE9F-514F-BBC8-8C03-200D311D2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1635" y="2145996"/>
            <a:ext cx="5248402" cy="29209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/>
              <a:t>Engine-Integration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17948" y="913909"/>
            <a:ext cx="6103109" cy="53535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AT" sz="2400" b="1">
                <a:solidFill>
                  <a:srgbClr val="0070C0"/>
                </a:solidFill>
                <a:ea typeface="+mn-lt"/>
                <a:cs typeface="+mn-lt"/>
              </a:rPr>
              <a:t>Export in die Godot-Engine</a:t>
            </a:r>
            <a:endParaRPr lang="en-US">
              <a:solidFill>
                <a:srgbClr val="000000"/>
              </a:solidFill>
              <a:ea typeface="Calibri"/>
              <a:cs typeface="Calibri"/>
            </a:endParaRPr>
          </a:p>
          <a:p>
            <a:pPr lvl="1">
              <a:buChar char="•"/>
            </a:pPr>
            <a:r>
              <a:rPr lang="de-AT" sz="1800">
                <a:solidFill>
                  <a:srgbClr val="000000"/>
                </a:solidFill>
                <a:ea typeface="+mn-lt"/>
                <a:cs typeface="+mn-lt"/>
              </a:rPr>
              <a:t>Mesh als GLB exportieren → direkt in Godot verwendbar </a:t>
            </a:r>
            <a:endParaRPr lang="de-AT" sz="1800">
              <a:solidFill>
                <a:srgbClr val="000000"/>
              </a:solidFill>
              <a:ea typeface="Calibri"/>
              <a:cs typeface="Calibri"/>
            </a:endParaRPr>
          </a:p>
          <a:p>
            <a:pPr lvl="1">
              <a:buChar char="•"/>
            </a:pPr>
            <a:r>
              <a:rPr lang="de-AT" sz="1800">
                <a:solidFill>
                  <a:srgbClr val="000000"/>
                </a:solidFill>
                <a:ea typeface="+mn-lt"/>
                <a:cs typeface="+mn-lt"/>
              </a:rPr>
              <a:t>Vererbte Scenes (TSCN) für Skriptanbindung erstellen </a:t>
            </a:r>
            <a:endParaRPr lang="de-AT" sz="1800">
              <a:solidFill>
                <a:srgbClr val="000000"/>
              </a:solidFill>
              <a:ea typeface="Calibri"/>
              <a:cs typeface="Calibri"/>
            </a:endParaRPr>
          </a:p>
          <a:p>
            <a:pPr lvl="1">
              <a:buChar char="•"/>
            </a:pPr>
            <a:r>
              <a:rPr lang="de-AT" sz="1800" err="1">
                <a:solidFill>
                  <a:srgbClr val="000000"/>
                </a:solidFill>
                <a:ea typeface="+mn-lt"/>
                <a:cs typeface="+mn-lt"/>
              </a:rPr>
              <a:t>Collision</a:t>
            </a:r>
            <a:r>
              <a:rPr lang="de-AT" sz="1800">
                <a:solidFill>
                  <a:srgbClr val="000000"/>
                </a:solidFill>
                <a:ea typeface="+mn-lt"/>
                <a:cs typeface="+mn-lt"/>
              </a:rPr>
              <a:t>-Shapes für Assets erstellen </a:t>
            </a:r>
            <a:endParaRPr lang="de-AT" sz="1800">
              <a:solidFill>
                <a:srgbClr val="000000"/>
              </a:solidFill>
              <a:ea typeface="Calibri"/>
              <a:cs typeface="Calibri"/>
            </a:endParaRPr>
          </a:p>
          <a:p>
            <a:pPr lvl="1">
              <a:buChar char="•"/>
            </a:pPr>
            <a:r>
              <a:rPr lang="de-AT" sz="1800">
                <a:solidFill>
                  <a:srgbClr val="000000"/>
                </a:solidFill>
                <a:ea typeface="+mn-lt"/>
                <a:cs typeface="+mn-lt"/>
              </a:rPr>
              <a:t>Assets in Simulation einbinden, Physik testen </a:t>
            </a:r>
            <a:endParaRPr lang="de-AT" sz="1800">
              <a:solidFill>
                <a:srgbClr val="000000"/>
              </a:solidFill>
              <a:ea typeface="Calibri"/>
              <a:cs typeface="Calibri"/>
            </a:endParaRPr>
          </a:p>
          <a:p>
            <a:pPr lvl="1">
              <a:buChar char="•"/>
            </a:pPr>
            <a:r>
              <a:rPr lang="de-AT" sz="1800">
                <a:solidFill>
                  <a:srgbClr val="000000"/>
                </a:solidFill>
                <a:ea typeface="+mn-lt"/>
                <a:cs typeface="+mn-lt"/>
              </a:rPr>
              <a:t>Dimensionen und Positionen anpassen</a:t>
            </a:r>
            <a:endParaRPr lang="de-AT" sz="1800">
              <a:solidFill>
                <a:srgbClr val="000000"/>
              </a:solidFill>
              <a:ea typeface="Calibri"/>
              <a:cs typeface="Calibri"/>
            </a:endParaRPr>
          </a:p>
          <a:p>
            <a:pPr lvl="1">
              <a:buChar char="•"/>
            </a:pPr>
            <a:endParaRPr lang="de-AT" sz="180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de-AT" sz="2400" b="1">
                <a:solidFill>
                  <a:srgbClr val="0070C0"/>
                </a:solidFill>
                <a:ea typeface="+mn-lt"/>
                <a:cs typeface="+mn-lt"/>
              </a:rPr>
              <a:t>Prüfpunkte der Assets</a:t>
            </a:r>
            <a:endParaRPr lang="de-AT"/>
          </a:p>
          <a:p>
            <a:pPr lvl="1">
              <a:buChar char="•"/>
            </a:pPr>
            <a:r>
              <a:rPr lang="de-AT" sz="1800">
                <a:solidFill>
                  <a:srgbClr val="000000"/>
                </a:solidFill>
                <a:ea typeface="+mn-lt"/>
                <a:cs typeface="+mn-lt"/>
              </a:rPr>
              <a:t>Sichtprüfung im Editor: Texturen, Normal Maps, Materialien</a:t>
            </a:r>
          </a:p>
          <a:p>
            <a:pPr lvl="1">
              <a:buChar char="•"/>
            </a:pPr>
            <a:r>
              <a:rPr lang="de-AT" sz="1800">
                <a:solidFill>
                  <a:srgbClr val="000000"/>
                </a:solidFill>
                <a:ea typeface="+mn-lt"/>
                <a:cs typeface="+mn-lt"/>
              </a:rPr>
              <a:t>Performance / Framerate testen</a:t>
            </a:r>
            <a:endParaRPr lang="de-AT" sz="1800">
              <a:solidFill>
                <a:srgbClr val="000000"/>
              </a:solidFill>
              <a:ea typeface="Calibri"/>
              <a:cs typeface="Calibri"/>
            </a:endParaRPr>
          </a:p>
          <a:p>
            <a:pPr lvl="1">
              <a:buChar char="•"/>
            </a:pPr>
            <a:r>
              <a:rPr lang="de-AT" sz="1800">
                <a:solidFill>
                  <a:srgbClr val="000000"/>
                </a:solidFill>
                <a:ea typeface="+mn-lt"/>
                <a:cs typeface="+mn-lt"/>
              </a:rPr>
              <a:t>Animationen und Interaktionen prüfen</a:t>
            </a:r>
            <a:endParaRPr lang="de-AT">
              <a:ea typeface="Calibri"/>
              <a:cs typeface="Calibri"/>
            </a:endParaRPr>
          </a:p>
          <a:p>
            <a:pPr lvl="1">
              <a:buChar char="•"/>
            </a:pPr>
            <a:r>
              <a:rPr lang="de-AT" sz="1800">
                <a:solidFill>
                  <a:srgbClr val="000000"/>
                </a:solidFill>
                <a:ea typeface="+mn-lt"/>
                <a:cs typeface="+mn-lt"/>
              </a:rPr>
              <a:t>Sicherstellen, dass Texturen korrekt </a:t>
            </a:r>
            <a:r>
              <a:rPr lang="de-AT" sz="1800" err="1">
                <a:solidFill>
                  <a:srgbClr val="000000"/>
                </a:solidFill>
                <a:ea typeface="+mn-lt"/>
                <a:cs typeface="+mn-lt"/>
              </a:rPr>
              <a:t>gebaked</a:t>
            </a:r>
            <a:r>
              <a:rPr lang="de-AT" sz="1800">
                <a:solidFill>
                  <a:srgbClr val="000000"/>
                </a:solidFill>
                <a:ea typeface="+mn-lt"/>
                <a:cs typeface="+mn-lt"/>
              </a:rPr>
              <a:t> und UV-</a:t>
            </a:r>
            <a:r>
              <a:rPr lang="de-AT" sz="1800" err="1">
                <a:solidFill>
                  <a:srgbClr val="000000"/>
                </a:solidFill>
                <a:ea typeface="+mn-lt"/>
                <a:cs typeface="+mn-lt"/>
              </a:rPr>
              <a:t>mapped</a:t>
            </a:r>
            <a:r>
              <a:rPr lang="de-AT" sz="1800">
                <a:solidFill>
                  <a:srgbClr val="000000"/>
                </a:solidFill>
                <a:ea typeface="+mn-lt"/>
                <a:cs typeface="+mn-lt"/>
              </a:rPr>
              <a:t> sind</a:t>
            </a:r>
            <a:endParaRPr lang="de-AT" sz="1800">
              <a:solidFill>
                <a:srgbClr val="000000"/>
              </a:solidFill>
              <a:ea typeface="Calibri"/>
              <a:cs typeface="Calibri"/>
            </a:endParaRPr>
          </a:p>
          <a:p>
            <a:pPr lvl="1">
              <a:buChar char="•"/>
            </a:pPr>
            <a:endParaRPr lang="de-AT" sz="1800">
              <a:ea typeface="Calibri"/>
              <a:cs typeface="Calibri"/>
            </a:endParaRPr>
          </a:p>
          <a:p>
            <a:pPr lvl="1">
              <a:buChar char="•"/>
            </a:pPr>
            <a:endParaRPr lang="de-AT" sz="2000" b="1">
              <a:solidFill>
                <a:srgbClr val="0070C0"/>
              </a:solidFill>
              <a:ea typeface="Calibri"/>
              <a:cs typeface="Calibri"/>
            </a:endParaRPr>
          </a:p>
          <a:p>
            <a:pPr lvl="1">
              <a:buChar char="•"/>
            </a:pPr>
            <a:endParaRPr lang="de-AT" sz="2000" b="1">
              <a:solidFill>
                <a:srgbClr val="0070C0"/>
              </a:solidFill>
              <a:ea typeface="Calibri"/>
              <a:cs typeface="Calibri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Lanzmaier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6</a:t>
            </a:fld>
            <a:endParaRPr lang="de-AT"/>
          </a:p>
        </p:txBody>
      </p:sp>
      <p:pic>
        <p:nvPicPr>
          <p:cNvPr id="6" name="Picture 5" descr="Finalisierte Version der Simulation [@final-version]">
            <a:extLst>
              <a:ext uri="{FF2B5EF4-FFF2-40B4-BE49-F238E27FC236}">
                <a16:creationId xmlns:a16="http://schemas.microsoft.com/office/drawing/2014/main" id="{0F2957E8-AAFF-8EE3-6F0D-C2BC7D6F4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127" y="2223308"/>
            <a:ext cx="5196211" cy="27245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Multiplayer-Konzept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17948" y="976539"/>
            <a:ext cx="6021848" cy="51172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AT" sz="2400" b="1">
                <a:solidFill>
                  <a:srgbClr val="0070C0"/>
                </a:solidFill>
              </a:rPr>
              <a:t>Auswahl eines Verbindungsmodells</a:t>
            </a:r>
          </a:p>
          <a:p>
            <a:pPr lvl="1">
              <a:buChar char="•"/>
            </a:pPr>
            <a:r>
              <a:rPr lang="de-AT" sz="1800">
                <a:ea typeface="Calibri"/>
                <a:cs typeface="Calibri"/>
              </a:rPr>
              <a:t>Peer-to-Peer</a:t>
            </a:r>
          </a:p>
          <a:p>
            <a:pPr lvl="1">
              <a:buChar char="•"/>
            </a:pPr>
            <a:r>
              <a:rPr lang="de-AT" sz="1800">
                <a:ea typeface="Calibri"/>
                <a:cs typeface="Calibri"/>
              </a:rPr>
              <a:t>Dedicated Server</a:t>
            </a:r>
          </a:p>
          <a:p>
            <a:endParaRPr lang="de-AT" sz="2400" b="1">
              <a:solidFill>
                <a:srgbClr val="0070C0"/>
              </a:solidFill>
            </a:endParaRPr>
          </a:p>
          <a:p>
            <a:r>
              <a:rPr lang="de-AT" sz="2400" b="1">
                <a:solidFill>
                  <a:srgbClr val="0070C0"/>
                </a:solidFill>
              </a:rPr>
              <a:t>Warum Peer-to-Peer?</a:t>
            </a:r>
            <a:endParaRPr lang="en-US" sz="2400">
              <a:solidFill>
                <a:srgbClr val="000000"/>
              </a:solidFill>
              <a:ea typeface="Calibri"/>
              <a:cs typeface="Calibri"/>
            </a:endParaRPr>
          </a:p>
          <a:p>
            <a:pPr lvl="1">
              <a:buFont typeface="Arial" pitchFamily="34" charset="0"/>
              <a:buChar char="•"/>
            </a:pPr>
            <a:r>
              <a:rPr lang="de-AT" sz="1800">
                <a:ea typeface="+mn-lt"/>
                <a:cs typeface="+mn-lt"/>
              </a:rPr>
              <a:t>WebRTC ermöglicht direkte P2P-Verbindungen </a:t>
            </a:r>
            <a:endParaRPr lang="de-AT" sz="1800">
              <a:ea typeface="Calibri"/>
              <a:cs typeface="Calibri"/>
            </a:endParaRPr>
          </a:p>
          <a:p>
            <a:pPr lvl="1">
              <a:buFont typeface="Arial" pitchFamily="34" charset="0"/>
              <a:buChar char="•"/>
            </a:pPr>
            <a:r>
              <a:rPr lang="de-AT" sz="1800">
                <a:ea typeface="+mn-lt"/>
                <a:cs typeface="+mn-lt"/>
              </a:rPr>
              <a:t>Echtzeitkommunikation zwischen Spielern </a:t>
            </a:r>
            <a:endParaRPr lang="de-AT" sz="1800">
              <a:ea typeface="Calibri"/>
              <a:cs typeface="Calibri"/>
            </a:endParaRPr>
          </a:p>
          <a:p>
            <a:pPr lvl="1">
              <a:buFont typeface="Arial" pitchFamily="34" charset="0"/>
              <a:buChar char="•"/>
            </a:pPr>
            <a:r>
              <a:rPr lang="de-AT" sz="1800">
                <a:ea typeface="+mn-lt"/>
                <a:cs typeface="+mn-lt"/>
              </a:rPr>
              <a:t>UDP für schnellen Datenaustausch </a:t>
            </a:r>
            <a:endParaRPr lang="en-US" sz="1800">
              <a:ea typeface="Calibri"/>
              <a:cs typeface="Calibri"/>
            </a:endParaRPr>
          </a:p>
          <a:p>
            <a:pPr lvl="1">
              <a:buFont typeface="Arial" pitchFamily="34" charset="0"/>
              <a:buChar char="•"/>
            </a:pPr>
            <a:r>
              <a:rPr lang="de-AT" sz="1800">
                <a:ea typeface="+mn-lt"/>
                <a:cs typeface="+mn-lt"/>
              </a:rPr>
              <a:t>Einfach in Godot zu implementieren</a:t>
            </a:r>
            <a:endParaRPr lang="de-AT">
              <a:ea typeface="Calibri"/>
              <a:cs typeface="Calibri"/>
            </a:endParaRPr>
          </a:p>
          <a:p>
            <a:pPr lvl="1">
              <a:buFont typeface="Arial" pitchFamily="34" charset="0"/>
              <a:buChar char="•"/>
            </a:pPr>
            <a:endParaRPr lang="de-AT" sz="180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de-AT" sz="2400" b="1">
                <a:solidFill>
                  <a:srgbClr val="0070C0"/>
                </a:solidFill>
                <a:ea typeface="Calibri"/>
                <a:cs typeface="Calibri"/>
              </a:rPr>
              <a:t>Verbindungsaufbau von WebRTC</a:t>
            </a:r>
          </a:p>
          <a:p>
            <a:pPr lvl="1">
              <a:buFont typeface="Arial" pitchFamily="34" charset="0"/>
              <a:buChar char="•"/>
            </a:pPr>
            <a:r>
              <a:rPr lang="de-AT" sz="1800">
                <a:ea typeface="Calibri"/>
                <a:cs typeface="Calibri"/>
              </a:rPr>
              <a:t>ICE – funktioniert mit STUN/TURN Server</a:t>
            </a:r>
          </a:p>
          <a:p>
            <a:pPr lvl="1">
              <a:buFont typeface="Arial" pitchFamily="34" charset="0"/>
              <a:buChar char="•"/>
            </a:pPr>
            <a:r>
              <a:rPr lang="de-AT" sz="1800">
                <a:ea typeface="+mn-lt"/>
                <a:cs typeface="+mn-lt"/>
              </a:rPr>
              <a:t>STUN: ermittelt öffentliche IP des Geräts </a:t>
            </a:r>
            <a:endParaRPr lang="en-US" sz="1800">
              <a:ea typeface="Calibri"/>
              <a:cs typeface="Calibri"/>
            </a:endParaRPr>
          </a:p>
          <a:p>
            <a:pPr lvl="1">
              <a:buChar char="•"/>
            </a:pPr>
            <a:r>
              <a:rPr lang="de-AT" sz="1800">
                <a:ea typeface="+mn-lt"/>
                <a:cs typeface="+mn-lt"/>
              </a:rPr>
              <a:t>TURN: Relay, wenn direkte Verbindung nicht möglich</a:t>
            </a:r>
            <a:endParaRPr lang="de-AT">
              <a:ea typeface="Calibri"/>
              <a:cs typeface="Calibri"/>
            </a:endParaRPr>
          </a:p>
          <a:p>
            <a:pPr lvl="1">
              <a:buChar char="•"/>
            </a:pPr>
            <a:endParaRPr lang="de-AT" sz="1800">
              <a:ea typeface="Calibri"/>
              <a:cs typeface="Calibri"/>
            </a:endParaRPr>
          </a:p>
          <a:p>
            <a:endParaRPr lang="de-AT" sz="1800">
              <a:ea typeface="Calibri"/>
              <a:cs typeface="Calibri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Lanzmaier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7</a:t>
            </a:fld>
            <a:endParaRPr lang="de-AT"/>
          </a:p>
        </p:txBody>
      </p:sp>
      <p:pic>
        <p:nvPicPr>
          <p:cNvPr id="6" name="Picture 5" descr="ICE - Grafische Darstellung [@ice-visualization]">
            <a:extLst>
              <a:ext uri="{FF2B5EF4-FFF2-40B4-BE49-F238E27FC236}">
                <a16:creationId xmlns:a16="http://schemas.microsoft.com/office/drawing/2014/main" id="{ADAC0CDD-5D31-2522-3364-B4C93EE853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31" b="820"/>
          <a:stretch>
            <a:fillRect/>
          </a:stretch>
        </p:blipFill>
        <p:spPr>
          <a:xfrm>
            <a:off x="6096000" y="2157562"/>
            <a:ext cx="5905018" cy="25220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Herausforderungen &amp; Lösungen</a:t>
            </a:r>
          </a:p>
        </p:txBody>
      </p:sp>
      <p:sp>
        <p:nvSpPr>
          <p:cNvPr id="6" name="TB6"/>
          <p:cNvSpPr txBox="1">
            <a:spLocks noChangeArrowheads="1"/>
          </p:cNvSpPr>
          <p:nvPr/>
        </p:nvSpPr>
        <p:spPr bwMode="auto">
          <a:xfrm>
            <a:off x="621397" y="979123"/>
            <a:ext cx="5800000" cy="5245100"/>
          </a:xfrm>
          <a:prstGeom prst="rect">
            <a:avLst/>
          </a:prstGeom>
          <a:noFill/>
        </p:spPr>
        <p:txBody>
          <a:bodyPr lIns="91440" tIns="45720" rIns="91440" bIns="45720" anchor="t">
            <a:normAutofit/>
          </a:bodyPr>
          <a:lstStyle/>
          <a:p>
            <a:r>
              <a:rPr lang="de-AT" sz="2400" b="1">
                <a:solidFill>
                  <a:srgbClr val="0070C0"/>
                </a:solidFill>
                <a:ea typeface="+mn-lt"/>
                <a:cs typeface="+mn-lt"/>
              </a:rPr>
              <a:t>Dimensionen in Godot anpassen</a:t>
            </a:r>
            <a:endParaRPr lang="en-US" b="1"/>
          </a:p>
          <a:p>
            <a:pPr lvl="1">
              <a:buFont typeface="Arial"/>
              <a:buChar char="•"/>
            </a:pPr>
            <a:r>
              <a:rPr lang="de-AT" sz="1800">
                <a:ea typeface="+mn-lt"/>
                <a:cs typeface="+mn-lt"/>
              </a:rPr>
              <a:t>Problem: </a:t>
            </a:r>
            <a:r>
              <a:rPr lang="de-AT">
                <a:ea typeface="+mn-lt"/>
                <a:cs typeface="+mn-lt"/>
              </a:rPr>
              <a:t>Dimensionen ließen sich zunächst nicht in Godot anpassen </a:t>
            </a:r>
            <a:endParaRPr lang="de-AT" sz="1800">
              <a:ea typeface="+mn-lt"/>
              <a:cs typeface="+mn-lt"/>
            </a:endParaRPr>
          </a:p>
          <a:p>
            <a:pPr lvl="1">
              <a:buFont typeface="Arial"/>
              <a:buChar char="•"/>
            </a:pPr>
            <a:r>
              <a:rPr lang="de-AT" sz="1800">
                <a:ea typeface="+mn-lt"/>
                <a:cs typeface="+mn-lt"/>
              </a:rPr>
              <a:t>Lösung: </a:t>
            </a:r>
            <a:r>
              <a:rPr lang="de-AT">
                <a:ea typeface="+mn-lt"/>
                <a:cs typeface="+mn-lt"/>
              </a:rPr>
              <a:t>Mit </a:t>
            </a:r>
            <a:r>
              <a:rPr lang="de-AT" err="1">
                <a:latin typeface="Consolas"/>
              </a:rPr>
              <a:t>GetAabb</a:t>
            </a:r>
            <a:r>
              <a:rPr lang="de-AT">
                <a:latin typeface="Consolas"/>
              </a:rPr>
              <a:t>()</a:t>
            </a:r>
            <a:r>
              <a:rPr lang="de-AT">
                <a:ea typeface="+mn-lt"/>
                <a:cs typeface="+mn-lt"/>
              </a:rPr>
              <a:t> </a:t>
            </a:r>
            <a:r>
              <a:rPr lang="de-AT" err="1">
                <a:ea typeface="+mn-lt"/>
                <a:cs typeface="+mn-lt"/>
              </a:rPr>
              <a:t>Bounding</a:t>
            </a:r>
            <a:r>
              <a:rPr lang="de-AT">
                <a:ea typeface="+mn-lt"/>
                <a:cs typeface="+mn-lt"/>
              </a:rPr>
              <a:t>-Box abfragen </a:t>
            </a:r>
            <a:r>
              <a:rPr lang="de-AT" sz="1800">
                <a:ea typeface="+mn-lt"/>
                <a:cs typeface="+mn-lt"/>
              </a:rPr>
              <a:t>→ </a:t>
            </a:r>
            <a:r>
              <a:rPr lang="de-AT">
                <a:ea typeface="+mn-lt"/>
                <a:cs typeface="+mn-lt"/>
              </a:rPr>
              <a:t>Dimensionen korrekt skalieren</a:t>
            </a:r>
            <a:endParaRPr lang="de-AT"/>
          </a:p>
          <a:p>
            <a:pPr lvl="1">
              <a:buChar char="•"/>
            </a:pPr>
            <a:endParaRPr lang="de-AT" sz="1800">
              <a:ea typeface="Calibri"/>
              <a:cs typeface="Calibri"/>
            </a:endParaRPr>
          </a:p>
          <a:p>
            <a:endParaRPr lang="de-AT"/>
          </a:p>
          <a:p>
            <a:r>
              <a:rPr lang="de-AT" sz="2400" b="1">
                <a:solidFill>
                  <a:srgbClr val="0070C0"/>
                </a:solidFill>
                <a:ea typeface="+mn-lt"/>
                <a:cs typeface="+mn-lt"/>
              </a:rPr>
              <a:t>Texturen verschmieren auf den Assets</a:t>
            </a:r>
            <a:endParaRPr lang="de-AT" b="1"/>
          </a:p>
          <a:p>
            <a:pPr lvl="1">
              <a:buFont typeface="Arial"/>
              <a:buChar char="•"/>
            </a:pPr>
            <a:r>
              <a:rPr lang="de-AT" sz="1800">
                <a:ea typeface="+mn-lt"/>
                <a:cs typeface="+mn-lt"/>
              </a:rPr>
              <a:t>Problem: </a:t>
            </a:r>
            <a:r>
              <a:rPr lang="de-AT">
                <a:ea typeface="+mn-lt"/>
                <a:cs typeface="+mn-lt"/>
              </a:rPr>
              <a:t>Texturen verschmierten auf Assets </a:t>
            </a:r>
            <a:endParaRPr lang="de-AT" sz="1800">
              <a:ea typeface="+mn-lt"/>
              <a:cs typeface="+mn-lt"/>
            </a:endParaRPr>
          </a:p>
          <a:p>
            <a:pPr lvl="1">
              <a:buFont typeface="Arial"/>
              <a:buChar char="•"/>
            </a:pPr>
            <a:r>
              <a:rPr lang="de-AT" sz="1800">
                <a:ea typeface="+mn-lt"/>
                <a:cs typeface="+mn-lt"/>
              </a:rPr>
              <a:t>Lösung: </a:t>
            </a:r>
            <a:r>
              <a:rPr lang="de-AT">
                <a:ea typeface="+mn-lt"/>
                <a:cs typeface="+mn-lt"/>
              </a:rPr>
              <a:t>UV-</a:t>
            </a:r>
            <a:r>
              <a:rPr lang="de-AT" err="1">
                <a:ea typeface="+mn-lt"/>
                <a:cs typeface="+mn-lt"/>
              </a:rPr>
              <a:t>Map</a:t>
            </a:r>
            <a:r>
              <a:rPr lang="de-AT">
                <a:ea typeface="+mn-lt"/>
                <a:cs typeface="+mn-lt"/>
              </a:rPr>
              <a:t> manuell angepasst</a:t>
            </a:r>
            <a:endParaRPr lang="de-AT"/>
          </a:p>
          <a:p>
            <a:pPr lvl="1">
              <a:buFontTx/>
              <a:buChar char="•"/>
            </a:pPr>
            <a:endParaRPr lang="de-AT">
              <a:solidFill>
                <a:srgbClr val="000000"/>
              </a:solidFill>
              <a:ea typeface="Calibri"/>
              <a:cs typeface="Calibri"/>
            </a:endParaRPr>
          </a:p>
          <a:p>
            <a:endParaRPr lang="de-AT" sz="2400" b="1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de-AT" sz="2400" b="1">
                <a:solidFill>
                  <a:srgbClr val="0070C0"/>
                </a:solidFill>
                <a:ea typeface="+mn-lt"/>
                <a:cs typeface="+mn-lt"/>
              </a:rPr>
              <a:t>Tischplatte importieren</a:t>
            </a:r>
            <a:endParaRPr lang="de-AT" b="1"/>
          </a:p>
          <a:p>
            <a:pPr lvl="1">
              <a:buFont typeface="Arial"/>
              <a:buChar char="•"/>
            </a:pPr>
            <a:r>
              <a:rPr lang="de-AT" sz="1800"/>
              <a:t>Problem: </a:t>
            </a:r>
            <a:r>
              <a:rPr lang="de-AT">
                <a:ea typeface="+mn-lt"/>
                <a:cs typeface="+mn-lt"/>
              </a:rPr>
              <a:t>Gesamtes Modell verursachte Fehler in Godot</a:t>
            </a:r>
            <a:endParaRPr lang="de-AT" sz="1800">
              <a:ea typeface="+mn-lt"/>
              <a:cs typeface="+mn-lt"/>
            </a:endParaRPr>
          </a:p>
          <a:p>
            <a:pPr lvl="1">
              <a:buFont typeface="Arial"/>
              <a:buChar char="•"/>
            </a:pPr>
            <a:r>
              <a:rPr lang="de-AT" sz="1800"/>
              <a:t>Lösung: </a:t>
            </a:r>
            <a:r>
              <a:rPr lang="de-AT">
                <a:ea typeface="+mn-lt"/>
                <a:cs typeface="+mn-lt"/>
              </a:rPr>
              <a:t>Komponenten (Boden, Wände, Tore) einzeln importiert</a:t>
            </a:r>
            <a:endParaRPr lang="de-AT" sz="1800">
              <a:ea typeface="+mn-lt"/>
              <a:cs typeface="+mn-lt"/>
            </a:endParaRPr>
          </a:p>
        </p:txBody>
      </p:sp>
      <p:sp>
        <p:nvSpPr>
          <p:cNvPr id="4" name="Fz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Lanzmaier</a:t>
            </a:r>
          </a:p>
        </p:txBody>
      </p:sp>
      <p:sp>
        <p:nvSpPr>
          <p:cNvPr id="5" name="Sn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8</a:t>
            </a:fld>
            <a:endParaRPr lang="de-AT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5989F-FDC7-56C4-22A3-6B21A4AE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Fußball, Ball, Kreis, Design enthält.">
            <a:extLst>
              <a:ext uri="{FF2B5EF4-FFF2-40B4-BE49-F238E27FC236}">
                <a16:creationId xmlns:a16="http://schemas.microsoft.com/office/drawing/2014/main" id="{418BFAEA-E897-DB0D-0CDB-A3FCC7E7AE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45" t="5599" r="7060" b="7334"/>
          <a:stretch>
            <a:fillRect/>
          </a:stretch>
        </p:blipFill>
        <p:spPr>
          <a:xfrm>
            <a:off x="795528" y="1593490"/>
            <a:ext cx="4221924" cy="4191657"/>
          </a:xfrm>
          <a:prstGeom prst="rect">
            <a:avLst/>
          </a:prstGeom>
        </p:spPr>
      </p:pic>
      <p:sp>
        <p:nvSpPr>
          <p:cNvPr id="6" name="Rectangle 1026">
            <a:extLst>
              <a:ext uri="{FF2B5EF4-FFF2-40B4-BE49-F238E27FC236}">
                <a16:creationId xmlns:a16="http://schemas.microsoft.com/office/drawing/2014/main" id="{35238530-B5C5-323F-5811-E83B5CB3F027}"/>
              </a:ext>
            </a:extLst>
          </p:cNvPr>
          <p:cNvSpPr txBox="1">
            <a:spLocks noChangeArrowheads="1"/>
          </p:cNvSpPr>
          <p:nvPr/>
        </p:nvSpPr>
        <p:spPr>
          <a:xfrm>
            <a:off x="5465508" y="2767584"/>
            <a:ext cx="5800312" cy="1015663"/>
          </a:xfrm>
          <a:prstGeom prst="rect">
            <a:avLst/>
          </a:prstGeom>
        </p:spPr>
        <p:txBody>
          <a:bodyPr/>
          <a:lstStyle/>
          <a:p>
            <a:r>
              <a:rPr lang="de-AT" sz="3200" b="1">
                <a:solidFill>
                  <a:srgbClr val="9BBB59"/>
                </a:solidFill>
              </a:rPr>
              <a:t>Vielen Dank für Ihre</a:t>
            </a:r>
          </a:p>
          <a:p>
            <a:r>
              <a:rPr lang="de-AT" sz="3200" b="1">
                <a:solidFill>
                  <a:srgbClr val="9BBB59"/>
                </a:solidFill>
              </a:rPr>
              <a:t>Aufmerksamkeit!</a:t>
            </a:r>
          </a:p>
        </p:txBody>
      </p:sp>
      <p:sp>
        <p:nvSpPr>
          <p:cNvPr id="7" name="Text Box 1030">
            <a:extLst>
              <a:ext uri="{FF2B5EF4-FFF2-40B4-BE49-F238E27FC236}">
                <a16:creationId xmlns:a16="http://schemas.microsoft.com/office/drawing/2014/main" id="{91B6A9E9-0596-0155-264E-99AE815163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2750" y="3901393"/>
            <a:ext cx="6373812" cy="892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54000" bIns="45720" anchor="t">
            <a:spAutoFit/>
          </a:bodyPr>
          <a:lstStyle/>
          <a:p>
            <a:pPr algn="r"/>
            <a:r>
              <a:rPr lang="nl-NL" sz="2000" b="1"/>
              <a:t>Luan Lanzmaier</a:t>
            </a:r>
            <a:endParaRPr lang="nl-NL" sz="2000" b="1">
              <a:ea typeface="Calibri"/>
              <a:cs typeface="Calibri"/>
            </a:endParaRPr>
          </a:p>
          <a:p>
            <a:pPr algn="r"/>
            <a:r>
              <a:rPr lang="nl-NL" sz="1600"/>
              <a:t>André Rath</a:t>
            </a:r>
            <a:endParaRPr lang="nl-NL" sz="1600">
              <a:ea typeface="Calibri"/>
              <a:cs typeface="Calibri"/>
            </a:endParaRPr>
          </a:p>
          <a:p>
            <a:pPr algn="r"/>
            <a:r>
              <a:rPr lang="nl-NL" sz="1600"/>
              <a:t>Nikita Schaar</a:t>
            </a:r>
          </a:p>
        </p:txBody>
      </p:sp>
      <p:sp>
        <p:nvSpPr>
          <p:cNvPr id="8" name="Text Box 1030">
            <a:extLst>
              <a:ext uri="{FF2B5EF4-FFF2-40B4-BE49-F238E27FC236}">
                <a16:creationId xmlns:a16="http://schemas.microsoft.com/office/drawing/2014/main" id="{A8770EAA-E88E-631E-98D7-68DB5F210C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2750" y="4900341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/>
          <a:p>
            <a:pPr algn="r"/>
            <a:r>
              <a:rPr lang="de-AT"/>
              <a:t>08.04.2026</a:t>
            </a:r>
          </a:p>
        </p:txBody>
      </p:sp>
      <p:sp>
        <p:nvSpPr>
          <p:cNvPr id="5" name="Text Box 1030">
            <a:extLst>
              <a:ext uri="{FF2B5EF4-FFF2-40B4-BE49-F238E27FC236}">
                <a16:creationId xmlns:a16="http://schemas.microsoft.com/office/drawing/2014/main" id="{03FD4EBE-57C5-D269-BA7F-E2393B7EA4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2750" y="5339355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AT"/>
              <a:t>Betreuer/in: Günther Hutter, Thomas Messner</a:t>
            </a:r>
          </a:p>
        </p:txBody>
      </p:sp>
      <p:sp>
        <p:nvSpPr>
          <p:cNvPr id="9" name="Text Box 1030">
            <a:extLst>
              <a:ext uri="{FF2B5EF4-FFF2-40B4-BE49-F238E27FC236}">
                <a16:creationId xmlns:a16="http://schemas.microsoft.com/office/drawing/2014/main" id="{3DF00026-B574-931E-54DE-CFB34272E9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2750" y="5691972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AT"/>
              <a:t>Firmenpartner: HTL Leoben</a:t>
            </a:r>
          </a:p>
        </p:txBody>
      </p:sp>
    </p:spTree>
    <p:extLst>
      <p:ext uri="{BB962C8B-B14F-4D97-AF65-F5344CB8AC3E}">
        <p14:creationId xmlns:p14="http://schemas.microsoft.com/office/powerpoint/2010/main" val="219393019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8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AB8AB9-BAA7-47F8-ADFD-BE76A88A9F8D}">
  <we:reference id="wa200010001" version="1.0.0.0" store="de-DE" storeType="OMEX"/>
  <we:alternateReferences>
    <we:reference id="wa200010001" version="1.0.0.0" store="" storeType="OMEX"/>
  </we:alternateReferences>
  <we:properties>
    <we:property name="claude.fileId" value="&quot;300ab715-03f7-4bff-af10-b4fa85b3a1b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5F8F8BE0F772449AA3E28E2051A517F" ma:contentTypeVersion="0" ma:contentTypeDescription="Ein neues Dokument erstellen." ma:contentTypeScope="" ma:versionID="0d260f8c1711e932026baa77adf35126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10627edd4f09c1f414843cf0643fb7b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2C214F1-4297-4767-8275-0DA039616A9F}">
  <ds:schemaRefs>
    <ds:schemaRef ds:uri="http://purl.org/dc/elements/1.1/"/>
    <ds:schemaRef ds:uri="http://purl.org/dc/terms/"/>
    <ds:schemaRef ds:uri="http://schemas.microsoft.com/internal/obd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62B322D-2084-418A-8960-B074ADC5B6D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1B09AE3-FA1D-40C8-A6CE-A2D9F55131C8}">
  <ds:schemaRefs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401</Words>
  <Application>Microsoft Office PowerPoint</Application>
  <PresentationFormat>Breitbild</PresentationFormat>
  <Paragraphs>115</Paragraphs>
  <Slides>9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Adobe Gothic Std B</vt:lpstr>
      <vt:lpstr>Arial</vt:lpstr>
      <vt:lpstr>Calibri</vt:lpstr>
      <vt:lpstr>Consolas</vt:lpstr>
      <vt:lpstr>Larissa</vt:lpstr>
      <vt:lpstr>PowerPoint-Präsentation</vt:lpstr>
      <vt:lpstr>Agenda</vt:lpstr>
      <vt:lpstr>Erstellung der Assets</vt:lpstr>
      <vt:lpstr>Asset-Optimierung</vt:lpstr>
      <vt:lpstr>Erstellung und Baking von Texture Maps</vt:lpstr>
      <vt:lpstr>Engine-Integration</vt:lpstr>
      <vt:lpstr>Multiplayer-Konzept</vt:lpstr>
      <vt:lpstr>Herausforderungen &amp; Lösungen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alexandra</dc:creator>
  <cp:lastModifiedBy>Schaar Nikita</cp:lastModifiedBy>
  <cp:revision>2</cp:revision>
  <cp:lastPrinted>2020-04-02T17:36:48Z</cp:lastPrinted>
  <dcterms:created xsi:type="dcterms:W3CDTF">2012-09-14T17:11:23Z</dcterms:created>
  <dcterms:modified xsi:type="dcterms:W3CDTF">2026-04-06T22:42:27Z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0x010100B5F8F8BE0F772449AA3E28E2051A517F</vt:lpwstr>
  </property>
</Properties>
</file>