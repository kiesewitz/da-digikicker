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24" r:id="rId5"/>
    <p:sldId id="2582" r:id="rId6"/>
    <p:sldId id="2600" r:id="rId7"/>
    <p:sldId id="2623" r:id="rId8"/>
    <p:sldId id="2602" r:id="rId9"/>
    <p:sldId id="2603" r:id="rId10"/>
    <p:sldId id="2604" r:id="rId11"/>
    <p:sldId id="2617" r:id="rId12"/>
    <p:sldId id="2625" r:id="rId13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3EDBC2-DE5C-7D29-1361-A134B9CC3A2A}" v="1470" dt="2026-04-06T22:36:59.8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07.04.2026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07.04.2026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4048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60483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EA4C-212E-0F18-CDDC-12073939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1A650F-9BF6-BB5B-B6E1-E7904828F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4CC7E0-F492-3B1D-0CB9-D8511B64A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2EE6E5-313F-61D8-AF22-9A7DA1D81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270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07.04.2026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07.04.2026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07.04.2026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07.04.2026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07.04.2026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Fußball, Ball, Kreis, Design enthält.">
            <a:extLst>
              <a:ext uri="{FF2B5EF4-FFF2-40B4-BE49-F238E27FC236}">
                <a16:creationId xmlns:a16="http://schemas.microsoft.com/office/drawing/2014/main" id="{405F5207-B391-D8DA-757D-EF4E8F74F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5599" r="7060" b="7334"/>
          <a:stretch>
            <a:fillRect/>
          </a:stretch>
        </p:blipFill>
        <p:spPr>
          <a:xfrm>
            <a:off x="795528" y="1593490"/>
            <a:ext cx="4221924" cy="4191657"/>
          </a:xfrm>
          <a:prstGeom prst="rect">
            <a:avLst/>
          </a:prstGeom>
        </p:spPr>
      </p:pic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5465508" y="2767584"/>
            <a:ext cx="5800312" cy="1015663"/>
          </a:xfrm>
          <a:prstGeom prst="rect">
            <a:avLst/>
          </a:prstGeom>
        </p:spPr>
        <p:txBody>
          <a:bodyPr/>
          <a:lstStyle/>
          <a:p>
            <a:r>
              <a:rPr lang="de-AT" sz="3200" b="1" err="1">
                <a:solidFill>
                  <a:srgbClr val="9BBB59"/>
                </a:solidFill>
              </a:rPr>
              <a:t>DigiKicker</a:t>
            </a:r>
            <a:r>
              <a:rPr lang="de-AT" sz="3200" b="1">
                <a:solidFill>
                  <a:srgbClr val="9BBB59"/>
                </a:solidFill>
              </a:rPr>
              <a:t> – Digitalisierung eines Tischfußballtisches</a:t>
            </a:r>
          </a:p>
          <a:p>
            <a:pPr lvl="0">
              <a:spcBef>
                <a:spcPct val="0"/>
              </a:spcBef>
              <a:defRPr/>
            </a:pPr>
            <a:endParaRPr lang="de-DE" sz="320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3901393"/>
            <a:ext cx="6373812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54000" bIns="45720" anchor="t">
            <a:spAutoFit/>
          </a:bodyPr>
          <a:lstStyle/>
          <a:p>
            <a:pPr algn="r"/>
            <a:r>
              <a:rPr lang="nl-NL" sz="2000" b="1" dirty="0"/>
              <a:t>Luan Lanzmaier</a:t>
            </a:r>
            <a:endParaRPr lang="nl-NL" sz="2000" b="1" dirty="0">
              <a:ea typeface="Calibri"/>
              <a:cs typeface="Calibri"/>
            </a:endParaRPr>
          </a:p>
          <a:p>
            <a:pPr algn="r"/>
            <a:r>
              <a:rPr lang="nl-NL" sz="1600" dirty="0"/>
              <a:t>André Rath</a:t>
            </a:r>
            <a:endParaRPr lang="nl-NL" sz="1600" dirty="0">
              <a:ea typeface="Calibri"/>
              <a:cs typeface="Calibri"/>
            </a:endParaRPr>
          </a:p>
          <a:p>
            <a:pPr algn="r"/>
            <a:r>
              <a:rPr lang="nl-NL" sz="1600" dirty="0"/>
              <a:t>Nikita Schaar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4900341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/>
              <a:t>08.04.2026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339355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/>
              <a:t>Betreuer/in: Günther Hutter,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69197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41826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Agenda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7948" y="976539"/>
            <a:ext cx="10972800" cy="52909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50000"/>
              </a:lnSpc>
              <a:buChar char="•"/>
            </a:pPr>
            <a:r>
              <a:rPr lang="de-AT" sz="2000">
                <a:ea typeface="+mn-lt"/>
                <a:cs typeface="+mn-lt"/>
              </a:rPr>
              <a:t>3D-Modellierung: Erstellung der Assets in Blender </a:t>
            </a:r>
            <a:endParaRPr lang="en-US" sz="2000">
              <a:ea typeface="Calibri"/>
              <a:cs typeface="Calibri"/>
            </a:endParaRPr>
          </a:p>
          <a:p>
            <a:pPr lvl="1">
              <a:lnSpc>
                <a:spcPct val="150000"/>
              </a:lnSpc>
              <a:buChar char="•"/>
            </a:pPr>
            <a:r>
              <a:rPr lang="de-AT" sz="2000">
                <a:ea typeface="+mn-lt"/>
                <a:cs typeface="+mn-lt"/>
              </a:rPr>
              <a:t>Asset-Optimierung: Polygonreduktion &amp; Performance </a:t>
            </a:r>
            <a:endParaRPr lang="de-AT">
              <a:ea typeface="Calibri"/>
              <a:cs typeface="Calibri"/>
            </a:endParaRPr>
          </a:p>
          <a:p>
            <a:pPr lvl="1">
              <a:lnSpc>
                <a:spcPct val="150000"/>
              </a:lnSpc>
              <a:buChar char="•"/>
            </a:pPr>
            <a:r>
              <a:rPr lang="de-AT" sz="2000">
                <a:ea typeface="+mn-lt"/>
                <a:cs typeface="+mn-lt"/>
              </a:rPr>
              <a:t>Texturierung: Erstellung und </a:t>
            </a:r>
            <a:r>
              <a:rPr lang="de-AT" sz="2000" err="1">
                <a:ea typeface="+mn-lt"/>
                <a:cs typeface="+mn-lt"/>
              </a:rPr>
              <a:t>Baking</a:t>
            </a:r>
            <a:r>
              <a:rPr lang="de-AT" sz="2000">
                <a:ea typeface="+mn-lt"/>
                <a:cs typeface="+mn-lt"/>
              </a:rPr>
              <a:t> von </a:t>
            </a:r>
            <a:r>
              <a:rPr lang="de-AT" sz="2000" err="1">
                <a:ea typeface="+mn-lt"/>
                <a:cs typeface="+mn-lt"/>
              </a:rPr>
              <a:t>Texture</a:t>
            </a:r>
            <a:r>
              <a:rPr lang="de-AT" sz="2000">
                <a:ea typeface="+mn-lt"/>
                <a:cs typeface="+mn-lt"/>
              </a:rPr>
              <a:t> Maps </a:t>
            </a:r>
            <a:endParaRPr lang="de-AT">
              <a:ea typeface="Calibri"/>
              <a:cs typeface="Calibri"/>
            </a:endParaRPr>
          </a:p>
          <a:p>
            <a:pPr lvl="1">
              <a:lnSpc>
                <a:spcPct val="150000"/>
              </a:lnSpc>
              <a:buChar char="•"/>
            </a:pPr>
            <a:r>
              <a:rPr lang="de-AT" sz="2000">
                <a:ea typeface="+mn-lt"/>
                <a:cs typeface="+mn-lt"/>
              </a:rPr>
              <a:t>Engine-Integration: Import und Prüfung in Godot </a:t>
            </a:r>
            <a:endParaRPr lang="de-AT">
              <a:ea typeface="Calibri"/>
              <a:cs typeface="Calibri"/>
            </a:endParaRPr>
          </a:p>
          <a:p>
            <a:pPr lvl="1">
              <a:lnSpc>
                <a:spcPct val="150000"/>
              </a:lnSpc>
              <a:buChar char="•"/>
            </a:pPr>
            <a:r>
              <a:rPr lang="de-AT" sz="2000">
                <a:ea typeface="+mn-lt"/>
                <a:cs typeface="+mn-lt"/>
              </a:rPr>
              <a:t>Multiplayer-Konzept: Recherche und theoretische Ausarbeitung</a:t>
            </a:r>
            <a:endParaRPr lang="de-AT">
              <a:ea typeface="Calibri"/>
              <a:cs typeface="Calibri"/>
            </a:endParaRPr>
          </a:p>
          <a:p>
            <a:pPr lvl="1">
              <a:lnSpc>
                <a:spcPct val="150000"/>
              </a:lnSpc>
              <a:buChar char="•"/>
            </a:pPr>
            <a:endParaRPr lang="de-AT" sz="2000">
              <a:ea typeface="Calibri"/>
              <a:cs typeface="Calibri"/>
            </a:endParaRP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Lanzmaier</a:t>
            </a:r>
          </a:p>
        </p:txBody>
      </p:sp>
      <p:sp>
        <p:nvSpPr>
          <p:cNvPr id="5" name="Slide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/>
              <a:t>Erstellung der Assets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7948" y="976539"/>
            <a:ext cx="5800000" cy="529091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AT" sz="2400" b="1">
                <a:solidFill>
                  <a:srgbClr val="0070C0"/>
                </a:solidFill>
                <a:ea typeface="+mn-lt"/>
                <a:cs typeface="+mn-lt"/>
              </a:rPr>
              <a:t>Referenzanalyse</a:t>
            </a:r>
            <a:endParaRPr lang="de-AT" sz="2400" b="1">
              <a:solidFill>
                <a:srgbClr val="0070C0"/>
              </a:solidFill>
              <a:ea typeface="Calibri"/>
              <a:cs typeface="Calibri"/>
            </a:endParaRPr>
          </a:p>
          <a:p>
            <a:pPr lvl="1" indent="-342900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Reale Tischfußballfiguren betrachtet </a:t>
            </a:r>
            <a:endParaRPr lang="de-AT" sz="1800">
              <a:ea typeface="Calibri"/>
              <a:cs typeface="Calibri"/>
            </a:endParaRPr>
          </a:p>
          <a:p>
            <a:pPr lvl="1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Proportionen, Farben, Körperbau übernommen</a:t>
            </a:r>
            <a:endParaRPr lang="de-AT" sz="1800">
              <a:ea typeface="Calibri"/>
              <a:cs typeface="Calibri"/>
            </a:endParaRPr>
          </a:p>
          <a:p>
            <a:pPr marL="457200" lvl="1" indent="0">
              <a:buNone/>
            </a:pPr>
            <a:endParaRPr lang="de-AT" sz="18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har char="•"/>
            </a:pPr>
            <a:r>
              <a:rPr lang="de-AT" sz="2400" b="1">
                <a:solidFill>
                  <a:srgbClr val="0070C0"/>
                </a:solidFill>
                <a:ea typeface="+mn-lt"/>
                <a:cs typeface="+mn-lt"/>
              </a:rPr>
              <a:t>Grundmodellierung</a:t>
            </a:r>
            <a:endParaRPr lang="de-AT"/>
          </a:p>
          <a:p>
            <a:pPr lvl="1" indent="-342900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Low-Poly-Modell erstellt </a:t>
            </a:r>
            <a:endParaRPr lang="de-AT" sz="1800">
              <a:ea typeface="Calibri"/>
              <a:cs typeface="Calibri"/>
            </a:endParaRPr>
          </a:p>
          <a:p>
            <a:pPr lvl="1" indent="-342900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Basisform grob mit </a:t>
            </a:r>
            <a:r>
              <a:rPr lang="de-AT" sz="1800" err="1">
                <a:ea typeface="+mn-lt"/>
                <a:cs typeface="+mn-lt"/>
              </a:rPr>
              <a:t>Sculpt</a:t>
            </a:r>
            <a:r>
              <a:rPr lang="de-AT" sz="1800">
                <a:ea typeface="+mn-lt"/>
                <a:cs typeface="+mn-lt"/>
              </a:rPr>
              <a:t>-Tools angepasst </a:t>
            </a:r>
            <a:endParaRPr lang="de-AT" sz="1800">
              <a:ea typeface="Calibri"/>
              <a:cs typeface="Calibri"/>
            </a:endParaRPr>
          </a:p>
          <a:p>
            <a:pPr marL="400050" lvl="1" indent="0">
              <a:buNone/>
            </a:pPr>
            <a:endParaRPr lang="de-AT" sz="18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de-AT" sz="2400" b="1">
                <a:solidFill>
                  <a:srgbClr val="0070C0"/>
                </a:solidFill>
                <a:ea typeface="+mn-lt"/>
                <a:cs typeface="+mn-lt"/>
              </a:rPr>
              <a:t>Detailmodellierung</a:t>
            </a:r>
            <a:endParaRPr lang="de-AT"/>
          </a:p>
          <a:p>
            <a:pPr lvl="1" indent="-342900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Subdivision Surface für feinere Geometrie </a:t>
            </a:r>
            <a:endParaRPr lang="de-AT" sz="1800">
              <a:ea typeface="Calibri"/>
              <a:cs typeface="Calibri"/>
            </a:endParaRPr>
          </a:p>
          <a:p>
            <a:pPr lvl="1">
              <a:buFont typeface="Arial" pitchFamily="34" charset="0"/>
              <a:buChar char="•"/>
            </a:pPr>
            <a:r>
              <a:rPr lang="de-AT" sz="1800" err="1">
                <a:ea typeface="+mn-lt"/>
                <a:cs typeface="+mn-lt"/>
              </a:rPr>
              <a:t>Sculpting</a:t>
            </a:r>
            <a:r>
              <a:rPr lang="de-AT" sz="1800">
                <a:ea typeface="+mn-lt"/>
                <a:cs typeface="+mn-lt"/>
              </a:rPr>
              <a:t> für Details, Formen und Strukturen </a:t>
            </a:r>
            <a:endParaRPr lang="de-AT" sz="1800">
              <a:ea typeface="Calibri"/>
              <a:cs typeface="Calibri"/>
            </a:endParaRPr>
          </a:p>
          <a:p>
            <a:pPr marL="457200" lvl="1" indent="0">
              <a:buNone/>
            </a:pPr>
            <a:endParaRPr lang="de-AT" sz="18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Char char="•"/>
            </a:pPr>
            <a:r>
              <a:rPr lang="de-AT" sz="2400" b="1">
                <a:solidFill>
                  <a:srgbClr val="0070C0"/>
                </a:solidFill>
                <a:ea typeface="+mn-lt"/>
                <a:cs typeface="+mn-lt"/>
              </a:rPr>
              <a:t>Feinjustierung</a:t>
            </a:r>
            <a:endParaRPr lang="de-AT"/>
          </a:p>
          <a:p>
            <a:pPr lvl="1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Polygone optimiert </a:t>
            </a:r>
            <a:endParaRPr lang="de-AT" sz="1800">
              <a:ea typeface="Calibri"/>
              <a:cs typeface="Calibri"/>
            </a:endParaRPr>
          </a:p>
          <a:p>
            <a:pPr lvl="1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Topologie überprüft und angepasst</a:t>
            </a:r>
            <a:endParaRPr lang="de-AT" sz="1800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endParaRPr lang="de-AT" sz="2400" b="1">
              <a:solidFill>
                <a:srgbClr val="0070C0"/>
              </a:solidFill>
              <a:ea typeface="Calibri"/>
              <a:cs typeface="Calibri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Lanzmaier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  <p:pic>
        <p:nvPicPr>
          <p:cNvPr id="9" name="Picture 8" descr="Finalisierung der Gesichtsfeatures [@face-features-finalization]">
            <a:extLst>
              <a:ext uri="{FF2B5EF4-FFF2-40B4-BE49-F238E27FC236}">
                <a16:creationId xmlns:a16="http://schemas.microsoft.com/office/drawing/2014/main" id="{6963B3B7-C638-A1C8-2196-8D598CE83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126" y="976899"/>
            <a:ext cx="4736924" cy="2628639"/>
          </a:xfrm>
          <a:prstGeom prst="rect">
            <a:avLst/>
          </a:prstGeom>
        </p:spPr>
      </p:pic>
      <p:pic>
        <p:nvPicPr>
          <p:cNvPr id="10" name="Picture 9" descr="High-Poly Modell der Kopf-Mesh [@high-poly-head]">
            <a:extLst>
              <a:ext uri="{FF2B5EF4-FFF2-40B4-BE49-F238E27FC236}">
                <a16:creationId xmlns:a16="http://schemas.microsoft.com/office/drawing/2014/main" id="{CE7F5F58-0E39-2A09-21E4-F79E331193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68" t="22759" r="38756" b="26667"/>
          <a:stretch>
            <a:fillRect/>
          </a:stretch>
        </p:blipFill>
        <p:spPr>
          <a:xfrm>
            <a:off x="6718126" y="3747370"/>
            <a:ext cx="4728477" cy="25168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Asset-Optimierung</a:t>
            </a:r>
            <a:endParaRPr lang="en-US"/>
          </a:p>
        </p:txBody>
      </p:sp>
      <p:sp>
        <p:nvSpPr>
          <p:cNvPr id="4" name="Fz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Lanzmaier</a:t>
            </a:r>
          </a:p>
        </p:txBody>
      </p:sp>
      <p:sp>
        <p:nvSpPr>
          <p:cNvPr id="5" name="S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  <p:sp>
        <p:nvSpPr>
          <p:cNvPr id="10" name="ContentBox"/>
          <p:cNvSpPr>
            <a:spLocks noGrp="1"/>
          </p:cNvSpPr>
          <p:nvPr/>
        </p:nvSpPr>
        <p:spPr>
          <a:xfrm>
            <a:off x="635000" y="1143000"/>
            <a:ext cx="10922000" cy="508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de-AT" sz="2400" b="1">
                <a:solidFill>
                  <a:srgbClr val="0070C0"/>
                </a:solidFill>
              </a:rPr>
              <a:t>Methoden der Asset-Optimierung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de-AT" b="1" err="1"/>
              <a:t>Retopology</a:t>
            </a:r>
            <a:r>
              <a:rPr lang="de-AT" b="1"/>
              <a:t> </a:t>
            </a:r>
            <a:r>
              <a:rPr lang="de-AT"/>
              <a:t>– </a:t>
            </a:r>
            <a:r>
              <a:rPr lang="de-AT">
                <a:ea typeface="+mn-lt"/>
                <a:cs typeface="+mn-lt"/>
              </a:rPr>
              <a:t>Reduktion der Polygonanzahl bei gleicher Form</a:t>
            </a:r>
            <a:endParaRPr lang="de-AT" sz="180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de-AT" b="1">
                <a:ea typeface="Calibri"/>
                <a:cs typeface="Calibri"/>
              </a:rPr>
              <a:t>Normal-</a:t>
            </a:r>
            <a:r>
              <a:rPr lang="de-AT" b="1" err="1">
                <a:ea typeface="Calibri"/>
                <a:cs typeface="Calibri"/>
              </a:rPr>
              <a:t>Map</a:t>
            </a:r>
            <a:r>
              <a:rPr lang="de-AT">
                <a:ea typeface="Calibri"/>
                <a:cs typeface="Calibri"/>
              </a:rPr>
              <a:t> – "Illusion" einer High-Poly-Version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de-AT" b="1" err="1"/>
              <a:t>Texture</a:t>
            </a:r>
            <a:r>
              <a:rPr lang="de-AT" b="1"/>
              <a:t>-Atlas</a:t>
            </a:r>
            <a:r>
              <a:rPr lang="de-AT"/>
              <a:t> – Minimierung von Materi</a:t>
            </a:r>
            <a:r>
              <a:rPr lang="de-AT">
                <a:ea typeface="Calibri"/>
                <a:cs typeface="Calibri"/>
              </a:rPr>
              <a:t>alien</a:t>
            </a:r>
            <a:endParaRPr lang="de-AT" sz="1800">
              <a:ea typeface="Calibri"/>
              <a:cs typeface="Calibri"/>
            </a:endParaRPr>
          </a:p>
        </p:txBody>
      </p:sp>
      <p:pic>
        <p:nvPicPr>
          <p:cNvPr id="11" name="Picture 10" descr="Retopology [@retopology]">
            <a:extLst>
              <a:ext uri="{FF2B5EF4-FFF2-40B4-BE49-F238E27FC236}">
                <a16:creationId xmlns:a16="http://schemas.microsoft.com/office/drawing/2014/main" id="{D06A909E-94B1-04D9-6CFA-F42B03E348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938" b="2724"/>
          <a:stretch>
            <a:fillRect/>
          </a:stretch>
        </p:blipFill>
        <p:spPr>
          <a:xfrm>
            <a:off x="768263" y="3320112"/>
            <a:ext cx="2016012" cy="2612233"/>
          </a:xfrm>
          <a:prstGeom prst="rect">
            <a:avLst/>
          </a:prstGeom>
        </p:spPr>
      </p:pic>
      <p:pic>
        <p:nvPicPr>
          <p:cNvPr id="12" name="Picture 11" descr="Low-Poly-Modell Kopf [@low-poly-head]">
            <a:extLst>
              <a:ext uri="{FF2B5EF4-FFF2-40B4-BE49-F238E27FC236}">
                <a16:creationId xmlns:a16="http://schemas.microsoft.com/office/drawing/2014/main" id="{BDD56E73-AFF5-308D-5A23-7B5D4420B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38" t="10135" r="42585" b="17568"/>
          <a:stretch>
            <a:fillRect/>
          </a:stretch>
        </p:blipFill>
        <p:spPr>
          <a:xfrm>
            <a:off x="2782866" y="3315090"/>
            <a:ext cx="1794828" cy="2618709"/>
          </a:xfrm>
          <a:prstGeom prst="rect">
            <a:avLst/>
          </a:prstGeom>
        </p:spPr>
      </p:pic>
      <p:pic>
        <p:nvPicPr>
          <p:cNvPr id="13" name="Picture 12" descr="Kopf nach Anwendung der Normal Map [@head-with-normal-map]">
            <a:extLst>
              <a:ext uri="{FF2B5EF4-FFF2-40B4-BE49-F238E27FC236}">
                <a16:creationId xmlns:a16="http://schemas.microsoft.com/office/drawing/2014/main" id="{4C50D82C-DF53-A72E-7F6B-BABDC094EA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797" t="25862" r="52898" b="41379"/>
          <a:stretch>
            <a:fillRect/>
          </a:stretch>
        </p:blipFill>
        <p:spPr>
          <a:xfrm>
            <a:off x="5559469" y="3323487"/>
            <a:ext cx="2035143" cy="2599895"/>
          </a:xfrm>
          <a:prstGeom prst="rect">
            <a:avLst/>
          </a:prstGeom>
        </p:spPr>
      </p:pic>
      <p:pic>
        <p:nvPicPr>
          <p:cNvPr id="16" name="Picture 15" descr="Diffuse Map Character-Asset [@diffuse-map-character]">
            <a:extLst>
              <a:ext uri="{FF2B5EF4-FFF2-40B4-BE49-F238E27FC236}">
                <a16:creationId xmlns:a16="http://schemas.microsoft.com/office/drawing/2014/main" id="{208286E7-E91B-CC47-8EDF-BE879F40A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646" y="2913344"/>
            <a:ext cx="1657612" cy="1626297"/>
          </a:xfrm>
          <a:prstGeom prst="rect">
            <a:avLst/>
          </a:prstGeom>
        </p:spPr>
      </p:pic>
      <p:pic>
        <p:nvPicPr>
          <p:cNvPr id="18" name="Picture 17" descr="Normal Map Character-Asset [@normal-map-character]">
            <a:extLst>
              <a:ext uri="{FF2B5EF4-FFF2-40B4-BE49-F238E27FC236}">
                <a16:creationId xmlns:a16="http://schemas.microsoft.com/office/drawing/2014/main" id="{BD6215BE-64D4-4202-CC73-3C37F53E46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8154" y="4541727"/>
            <a:ext cx="1699366" cy="1668051"/>
          </a:xfrm>
          <a:prstGeom prst="rect">
            <a:avLst/>
          </a:prstGeom>
        </p:spPr>
      </p:pic>
      <p:pic>
        <p:nvPicPr>
          <p:cNvPr id="20" name="Picture 19" descr="Roughness Map Character-Asset [@roughness-map-character]">
            <a:extLst>
              <a:ext uri="{FF2B5EF4-FFF2-40B4-BE49-F238E27FC236}">
                <a16:creationId xmlns:a16="http://schemas.microsoft.com/office/drawing/2014/main" id="{D03C2C31-B908-CCF6-10D5-C55A8F6149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3657" y="2913343"/>
            <a:ext cx="1657614" cy="162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41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>
                <a:ea typeface="Calibri"/>
                <a:cs typeface="Calibri"/>
              </a:rPr>
              <a:t>Erstellung und </a:t>
            </a:r>
            <a:r>
              <a:rPr lang="de-AT" err="1">
                <a:ea typeface="Calibri"/>
                <a:cs typeface="Calibri"/>
              </a:rPr>
              <a:t>Baking</a:t>
            </a:r>
            <a:r>
              <a:rPr lang="de-AT">
                <a:ea typeface="Calibri"/>
                <a:cs typeface="Calibri"/>
              </a:rPr>
              <a:t> von </a:t>
            </a:r>
            <a:r>
              <a:rPr lang="de-AT" err="1">
                <a:ea typeface="Calibri"/>
                <a:cs typeface="Calibri"/>
              </a:rPr>
              <a:t>Texture</a:t>
            </a:r>
            <a:r>
              <a:rPr lang="de-AT">
                <a:ea typeface="Calibri"/>
                <a:cs typeface="Calibri"/>
              </a:rPr>
              <a:t> Maps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7594" y="1044058"/>
            <a:ext cx="7931671" cy="5117291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de-AT" sz="2400" b="1">
                <a:solidFill>
                  <a:srgbClr val="0070C0"/>
                </a:solidFill>
                <a:ea typeface="Calibri"/>
                <a:cs typeface="Calibri"/>
              </a:rPr>
              <a:t>Im Projekt verwendete </a:t>
            </a:r>
            <a:r>
              <a:rPr lang="de-AT" sz="2400" b="1" err="1">
                <a:solidFill>
                  <a:srgbClr val="0070C0"/>
                </a:solidFill>
                <a:ea typeface="Calibri"/>
                <a:cs typeface="Calibri"/>
              </a:rPr>
              <a:t>Texture</a:t>
            </a:r>
            <a:r>
              <a:rPr lang="de-AT" sz="2400" b="1">
                <a:solidFill>
                  <a:srgbClr val="0070C0"/>
                </a:solidFill>
                <a:ea typeface="Calibri"/>
                <a:cs typeface="Calibri"/>
              </a:rPr>
              <a:t> Maps</a:t>
            </a:r>
          </a:p>
          <a:p>
            <a:pPr lvl="1">
              <a:buChar char="•"/>
            </a:pPr>
            <a:r>
              <a:rPr lang="de-AT" sz="1800">
                <a:ea typeface="Calibri"/>
                <a:cs typeface="Calibri"/>
              </a:rPr>
              <a:t>Normal </a:t>
            </a:r>
            <a:r>
              <a:rPr lang="de-AT" sz="1800" err="1">
                <a:ea typeface="Calibri"/>
                <a:cs typeface="Calibri"/>
              </a:rPr>
              <a:t>Map</a:t>
            </a:r>
            <a:endParaRPr lang="de-AT" sz="1800"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ea typeface="Calibri"/>
                <a:cs typeface="Calibri"/>
              </a:rPr>
              <a:t>Diffuse </a:t>
            </a:r>
            <a:r>
              <a:rPr lang="de-AT" sz="1800" err="1">
                <a:ea typeface="Calibri"/>
                <a:cs typeface="Calibri"/>
              </a:rPr>
              <a:t>Map</a:t>
            </a:r>
            <a:endParaRPr lang="de-AT" sz="1800"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 err="1">
                <a:ea typeface="Calibri"/>
                <a:cs typeface="Calibri"/>
              </a:rPr>
              <a:t>Roughness</a:t>
            </a:r>
            <a:r>
              <a:rPr lang="de-AT" sz="1800">
                <a:ea typeface="Calibri"/>
                <a:cs typeface="Calibri"/>
              </a:rPr>
              <a:t> </a:t>
            </a:r>
            <a:r>
              <a:rPr lang="de-AT" sz="1800" err="1">
                <a:ea typeface="Calibri"/>
                <a:cs typeface="Calibri"/>
              </a:rPr>
              <a:t>Map</a:t>
            </a:r>
            <a:endParaRPr lang="de-AT" sz="1800"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ea typeface="Calibri"/>
                <a:cs typeface="Calibri"/>
              </a:rPr>
              <a:t>Emission </a:t>
            </a:r>
            <a:r>
              <a:rPr lang="de-AT" sz="1800" err="1">
                <a:ea typeface="Calibri"/>
                <a:cs typeface="Calibri"/>
              </a:rPr>
              <a:t>Map</a:t>
            </a:r>
            <a:r>
              <a:rPr lang="de-AT" sz="1800">
                <a:ea typeface="Calibri"/>
                <a:cs typeface="Calibri"/>
              </a:rPr>
              <a:t> - später wieder verworfen</a:t>
            </a:r>
          </a:p>
          <a:p>
            <a:pPr marL="457200" lvl="1" indent="0">
              <a:buNone/>
            </a:pPr>
            <a:endParaRPr lang="de-AT" sz="2000" b="1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de-AT" sz="2400" b="1">
                <a:solidFill>
                  <a:srgbClr val="0070C0"/>
                </a:solidFill>
                <a:ea typeface="Calibri"/>
                <a:cs typeface="Calibri"/>
              </a:rPr>
              <a:t>Anwendung und Prozess in Blender</a:t>
            </a:r>
          </a:p>
          <a:p>
            <a:pPr lvl="1">
              <a:buChar char="•"/>
            </a:pPr>
            <a:r>
              <a:rPr lang="de-AT" sz="1800">
                <a:ea typeface="Calibri"/>
                <a:cs typeface="Calibri"/>
              </a:rPr>
              <a:t>Im Shader Editor  - als Image-</a:t>
            </a:r>
            <a:r>
              <a:rPr lang="de-AT" sz="1800" err="1">
                <a:ea typeface="Calibri"/>
                <a:cs typeface="Calibri"/>
              </a:rPr>
              <a:t>Texture</a:t>
            </a:r>
            <a:r>
              <a:rPr lang="de-AT" sz="1800">
                <a:ea typeface="Calibri"/>
                <a:cs typeface="Calibri"/>
              </a:rPr>
              <a:t> darstellbar</a:t>
            </a:r>
          </a:p>
          <a:p>
            <a:pPr lvl="1">
              <a:buChar char="•"/>
            </a:pPr>
            <a:r>
              <a:rPr lang="de-AT" sz="1800">
                <a:ea typeface="Calibri"/>
                <a:cs typeface="Calibri"/>
              </a:rPr>
              <a:t>Beim Baken - </a:t>
            </a:r>
            <a:r>
              <a:rPr lang="de-AT" sz="1800">
                <a:ea typeface="+mn-lt"/>
                <a:cs typeface="+mn-lt"/>
              </a:rPr>
              <a:t>Details via UV-</a:t>
            </a:r>
            <a:r>
              <a:rPr lang="de-AT" sz="1800" err="1">
                <a:ea typeface="+mn-lt"/>
                <a:cs typeface="+mn-lt"/>
              </a:rPr>
              <a:t>Map</a:t>
            </a:r>
            <a:r>
              <a:rPr lang="de-AT" sz="1800">
                <a:ea typeface="+mn-lt"/>
                <a:cs typeface="+mn-lt"/>
              </a:rPr>
              <a:t> auf PNG übertragen</a:t>
            </a:r>
            <a:endParaRPr lang="de-AT" sz="1800"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ea typeface="Calibri"/>
                <a:cs typeface="Calibri"/>
              </a:rPr>
              <a:t>Speicherbar als PNG-Datei</a:t>
            </a:r>
          </a:p>
          <a:p>
            <a:pPr lvl="1">
              <a:buChar char="•"/>
            </a:pPr>
            <a:endParaRPr lang="de-AT" sz="2000">
              <a:solidFill>
                <a:srgbClr val="0070C0"/>
              </a:solidFill>
              <a:ea typeface="Calibri"/>
              <a:cs typeface="Calibri"/>
            </a:endParaRPr>
          </a:p>
          <a:p>
            <a:pPr lvl="1"/>
            <a:endParaRPr lang="de-AT" sz="1800">
              <a:ea typeface="Calibri"/>
              <a:cs typeface="Calibri"/>
            </a:endParaRPr>
          </a:p>
          <a:p>
            <a:endParaRPr lang="de-AT">
              <a:ea typeface="Calibri"/>
              <a:cs typeface="Calibri"/>
            </a:endParaRPr>
          </a:p>
        </p:txBody>
      </p:sp>
      <p:sp>
        <p:nvSpPr>
          <p:cNvPr id="4" name="Fuss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Lanzmaier</a:t>
            </a:r>
          </a:p>
        </p:txBody>
      </p:sp>
      <p:sp>
        <p:nvSpPr>
          <p:cNvPr id="5" name="Slide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  <p:pic>
        <p:nvPicPr>
          <p:cNvPr id="7" name="Picture 6" descr="Fertig modelliertes Character-Asset [@finished-asset]">
            <a:extLst>
              <a:ext uri="{FF2B5EF4-FFF2-40B4-BE49-F238E27FC236}">
                <a16:creationId xmlns:a16="http://schemas.microsoft.com/office/drawing/2014/main" id="{EDFADE9F-514F-BBC8-8C03-200D311D2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635" y="2145996"/>
            <a:ext cx="5248402" cy="2920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/>
              <a:t>Engine-Integration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7948" y="913909"/>
            <a:ext cx="6103109" cy="53535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sz="2400" b="1">
                <a:solidFill>
                  <a:srgbClr val="0070C0"/>
                </a:solidFill>
                <a:ea typeface="+mn-lt"/>
                <a:cs typeface="+mn-lt"/>
              </a:rPr>
              <a:t>Export in die Godot-Engine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Mesh als GLB exportieren → direkt in Godot verwendbar </a:t>
            </a:r>
            <a:endParaRPr lang="de-AT" sz="1800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Vererbte Scenes (TSCN) für Skriptanbindung erstellen </a:t>
            </a:r>
            <a:endParaRPr lang="de-AT" sz="1800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 err="1">
                <a:solidFill>
                  <a:srgbClr val="000000"/>
                </a:solidFill>
                <a:ea typeface="+mn-lt"/>
                <a:cs typeface="+mn-lt"/>
              </a:rPr>
              <a:t>Collision</a:t>
            </a: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-Shapes für Assets erstellen </a:t>
            </a:r>
            <a:endParaRPr lang="de-AT" sz="1800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Assets in Simulation einbinden, Physik testen </a:t>
            </a:r>
            <a:endParaRPr lang="de-AT" sz="1800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Dimensionen und Positionen anpassen</a:t>
            </a:r>
            <a:endParaRPr lang="de-AT" sz="1800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buChar char="•"/>
            </a:pPr>
            <a:endParaRPr lang="de-AT" sz="18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de-AT" sz="2400" b="1">
                <a:solidFill>
                  <a:srgbClr val="0070C0"/>
                </a:solidFill>
                <a:ea typeface="+mn-lt"/>
                <a:cs typeface="+mn-lt"/>
              </a:rPr>
              <a:t>Prüfpunkte der Assets</a:t>
            </a:r>
            <a:endParaRPr lang="de-AT"/>
          </a:p>
          <a:p>
            <a:pPr lvl="1">
              <a:buChar char="•"/>
            </a:pP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Sichtprüfung im Editor: Texturen, Normal Maps, Materialien</a:t>
            </a:r>
          </a:p>
          <a:p>
            <a:pPr lvl="1">
              <a:buChar char="•"/>
            </a:pP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Performance / Framerate testen</a:t>
            </a:r>
            <a:endParaRPr lang="de-AT" sz="1800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Animationen und Interaktionen prüfen</a:t>
            </a:r>
            <a:endParaRPr lang="de-AT"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Sicherstellen, dass Texturen korrekt </a:t>
            </a:r>
            <a:r>
              <a:rPr lang="de-AT" sz="1800" err="1">
                <a:solidFill>
                  <a:srgbClr val="000000"/>
                </a:solidFill>
                <a:ea typeface="+mn-lt"/>
                <a:cs typeface="+mn-lt"/>
              </a:rPr>
              <a:t>gebaked</a:t>
            </a: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 und UV-</a:t>
            </a:r>
            <a:r>
              <a:rPr lang="de-AT" sz="1800" err="1">
                <a:solidFill>
                  <a:srgbClr val="000000"/>
                </a:solidFill>
                <a:ea typeface="+mn-lt"/>
                <a:cs typeface="+mn-lt"/>
              </a:rPr>
              <a:t>mapped</a:t>
            </a:r>
            <a:r>
              <a:rPr lang="de-AT" sz="1800">
                <a:solidFill>
                  <a:srgbClr val="000000"/>
                </a:solidFill>
                <a:ea typeface="+mn-lt"/>
                <a:cs typeface="+mn-lt"/>
              </a:rPr>
              <a:t> sind</a:t>
            </a:r>
            <a:endParaRPr lang="de-AT" sz="1800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buChar char="•"/>
            </a:pPr>
            <a:endParaRPr lang="de-AT" sz="1800">
              <a:ea typeface="Calibri"/>
              <a:cs typeface="Calibri"/>
            </a:endParaRPr>
          </a:p>
          <a:p>
            <a:pPr lvl="1">
              <a:buChar char="•"/>
            </a:pPr>
            <a:endParaRPr lang="de-AT" sz="2000" b="1">
              <a:solidFill>
                <a:srgbClr val="0070C0"/>
              </a:solidFill>
              <a:ea typeface="Calibri"/>
              <a:cs typeface="Calibri"/>
            </a:endParaRPr>
          </a:p>
          <a:p>
            <a:pPr lvl="1">
              <a:buChar char="•"/>
            </a:pPr>
            <a:endParaRPr lang="de-AT" sz="2000" b="1">
              <a:solidFill>
                <a:srgbClr val="0070C0"/>
              </a:solidFill>
              <a:ea typeface="Calibri"/>
              <a:cs typeface="Calibri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Lanzmaier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  <p:pic>
        <p:nvPicPr>
          <p:cNvPr id="6" name="Picture 5" descr="Finalisierte Version der Simulation [@final-version]">
            <a:extLst>
              <a:ext uri="{FF2B5EF4-FFF2-40B4-BE49-F238E27FC236}">
                <a16:creationId xmlns:a16="http://schemas.microsoft.com/office/drawing/2014/main" id="{0F2957E8-AAFF-8EE3-6F0D-C2BC7D6F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127" y="2223308"/>
            <a:ext cx="5196211" cy="27245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Multiplayer-Konzept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7948" y="976539"/>
            <a:ext cx="6021848" cy="51172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sz="2400" b="1">
                <a:solidFill>
                  <a:srgbClr val="0070C0"/>
                </a:solidFill>
              </a:rPr>
              <a:t>Auswahl eines Verbindungsmodells</a:t>
            </a:r>
          </a:p>
          <a:p>
            <a:pPr lvl="1">
              <a:buChar char="•"/>
            </a:pPr>
            <a:r>
              <a:rPr lang="de-AT" sz="1800">
                <a:ea typeface="Calibri"/>
                <a:cs typeface="Calibri"/>
              </a:rPr>
              <a:t>Peer-to-Peer</a:t>
            </a:r>
          </a:p>
          <a:p>
            <a:pPr lvl="1">
              <a:buChar char="•"/>
            </a:pPr>
            <a:r>
              <a:rPr lang="de-AT" sz="1800">
                <a:ea typeface="Calibri"/>
                <a:cs typeface="Calibri"/>
              </a:rPr>
              <a:t>Dedicated Server</a:t>
            </a:r>
          </a:p>
          <a:p>
            <a:endParaRPr lang="de-AT" sz="2400" b="1">
              <a:solidFill>
                <a:srgbClr val="0070C0"/>
              </a:solidFill>
            </a:endParaRPr>
          </a:p>
          <a:p>
            <a:r>
              <a:rPr lang="de-AT" sz="2400" b="1">
                <a:solidFill>
                  <a:srgbClr val="0070C0"/>
                </a:solidFill>
              </a:rPr>
              <a:t>Warum Peer-to-Peer?</a:t>
            </a:r>
            <a:endParaRPr lang="en-US" sz="2400">
              <a:solidFill>
                <a:srgbClr val="000000"/>
              </a:solidFill>
              <a:ea typeface="Calibri"/>
              <a:cs typeface="Calibri"/>
            </a:endParaRPr>
          </a:p>
          <a:p>
            <a:pPr lvl="1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WebRTC ermöglicht direkte P2P-Verbindungen </a:t>
            </a:r>
            <a:endParaRPr lang="de-AT" sz="1800">
              <a:ea typeface="Calibri"/>
              <a:cs typeface="Calibri"/>
            </a:endParaRPr>
          </a:p>
          <a:p>
            <a:pPr lvl="1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Echtzeitkommunikation zwischen Spielern </a:t>
            </a:r>
            <a:endParaRPr lang="de-AT" sz="1800">
              <a:ea typeface="Calibri"/>
              <a:cs typeface="Calibri"/>
            </a:endParaRPr>
          </a:p>
          <a:p>
            <a:pPr lvl="1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UDP für schnellen Datenaustausch </a:t>
            </a:r>
            <a:endParaRPr lang="en-US" sz="1800">
              <a:ea typeface="Calibri"/>
              <a:cs typeface="Calibri"/>
            </a:endParaRPr>
          </a:p>
          <a:p>
            <a:pPr lvl="1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Einfach in Godot zu implementieren</a:t>
            </a:r>
            <a:endParaRPr lang="de-AT">
              <a:ea typeface="Calibri"/>
              <a:cs typeface="Calibri"/>
            </a:endParaRPr>
          </a:p>
          <a:p>
            <a:pPr lvl="1">
              <a:buFont typeface="Arial" pitchFamily="34" charset="0"/>
              <a:buChar char="•"/>
            </a:pPr>
            <a:endParaRPr lang="de-AT" sz="18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de-AT" sz="2400" b="1">
                <a:solidFill>
                  <a:srgbClr val="0070C0"/>
                </a:solidFill>
                <a:ea typeface="Calibri"/>
                <a:cs typeface="Calibri"/>
              </a:rPr>
              <a:t>Verbindungsaufbau von WebRTC</a:t>
            </a:r>
          </a:p>
          <a:p>
            <a:pPr lvl="1">
              <a:buFont typeface="Arial" pitchFamily="34" charset="0"/>
              <a:buChar char="•"/>
            </a:pPr>
            <a:r>
              <a:rPr lang="de-AT" sz="1800">
                <a:ea typeface="Calibri"/>
                <a:cs typeface="Calibri"/>
              </a:rPr>
              <a:t>ICE – funktioniert mit STUN/TURN Server</a:t>
            </a:r>
          </a:p>
          <a:p>
            <a:pPr lvl="1">
              <a:buFont typeface="Arial" pitchFamily="34" charset="0"/>
              <a:buChar char="•"/>
            </a:pPr>
            <a:r>
              <a:rPr lang="de-AT" sz="1800">
                <a:ea typeface="+mn-lt"/>
                <a:cs typeface="+mn-lt"/>
              </a:rPr>
              <a:t>STUN: ermittelt öffentliche IP des Geräts </a:t>
            </a:r>
            <a:endParaRPr lang="en-US" sz="1800">
              <a:ea typeface="Calibri"/>
              <a:cs typeface="Calibri"/>
            </a:endParaRPr>
          </a:p>
          <a:p>
            <a:pPr lvl="1">
              <a:buChar char="•"/>
            </a:pPr>
            <a:r>
              <a:rPr lang="de-AT" sz="1800">
                <a:ea typeface="+mn-lt"/>
                <a:cs typeface="+mn-lt"/>
              </a:rPr>
              <a:t>TURN: Relay, wenn direkte Verbindung nicht möglich</a:t>
            </a:r>
            <a:endParaRPr lang="de-AT">
              <a:ea typeface="Calibri"/>
              <a:cs typeface="Calibri"/>
            </a:endParaRPr>
          </a:p>
          <a:p>
            <a:pPr lvl="1">
              <a:buChar char="•"/>
            </a:pPr>
            <a:endParaRPr lang="de-AT" sz="1800">
              <a:ea typeface="Calibri"/>
              <a:cs typeface="Calibri"/>
            </a:endParaRPr>
          </a:p>
          <a:p>
            <a:endParaRPr lang="de-AT" sz="1800">
              <a:ea typeface="Calibri"/>
              <a:cs typeface="Calibri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Lanzmaier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  <p:pic>
        <p:nvPicPr>
          <p:cNvPr id="6" name="Picture 5" descr="ICE - Grafische Darstellung [@ice-visualization]">
            <a:extLst>
              <a:ext uri="{FF2B5EF4-FFF2-40B4-BE49-F238E27FC236}">
                <a16:creationId xmlns:a16="http://schemas.microsoft.com/office/drawing/2014/main" id="{ADAC0CDD-5D31-2522-3364-B4C93EE853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1" b="820"/>
          <a:stretch>
            <a:fillRect/>
          </a:stretch>
        </p:blipFill>
        <p:spPr>
          <a:xfrm>
            <a:off x="6096000" y="2157562"/>
            <a:ext cx="5905018" cy="2522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Herausforderungen &amp; Lösungen</a:t>
            </a:r>
          </a:p>
        </p:txBody>
      </p:sp>
      <p:sp>
        <p:nvSpPr>
          <p:cNvPr id="6" name="TB6"/>
          <p:cNvSpPr txBox="1">
            <a:spLocks noChangeArrowheads="1"/>
          </p:cNvSpPr>
          <p:nvPr/>
        </p:nvSpPr>
        <p:spPr bwMode="auto">
          <a:xfrm>
            <a:off x="621397" y="979123"/>
            <a:ext cx="5800000" cy="5245100"/>
          </a:xfrm>
          <a:prstGeom prst="rect">
            <a:avLst/>
          </a:prstGeom>
          <a:noFill/>
        </p:spPr>
        <p:txBody>
          <a:bodyPr lIns="91440" tIns="45720" rIns="91440" bIns="45720" anchor="t">
            <a:normAutofit/>
          </a:bodyPr>
          <a:lstStyle/>
          <a:p>
            <a:r>
              <a:rPr lang="de-AT" sz="2400" b="1">
                <a:solidFill>
                  <a:srgbClr val="0070C0"/>
                </a:solidFill>
                <a:ea typeface="+mn-lt"/>
                <a:cs typeface="+mn-lt"/>
              </a:rPr>
              <a:t>Dimensionen in Godot anpassen</a:t>
            </a:r>
            <a:endParaRPr lang="en-US" b="1"/>
          </a:p>
          <a:p>
            <a:pPr lvl="1">
              <a:buFont typeface="Arial"/>
              <a:buChar char="•"/>
            </a:pPr>
            <a:r>
              <a:rPr lang="de-AT" sz="1800">
                <a:ea typeface="+mn-lt"/>
                <a:cs typeface="+mn-lt"/>
              </a:rPr>
              <a:t>Problem: </a:t>
            </a:r>
            <a:r>
              <a:rPr lang="de-AT">
                <a:ea typeface="+mn-lt"/>
                <a:cs typeface="+mn-lt"/>
              </a:rPr>
              <a:t>Dimensionen ließen sich zunächst nicht in Godot anpassen </a:t>
            </a:r>
            <a:endParaRPr lang="de-AT" sz="180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de-AT" sz="1800">
                <a:ea typeface="+mn-lt"/>
                <a:cs typeface="+mn-lt"/>
              </a:rPr>
              <a:t>Lösung: </a:t>
            </a:r>
            <a:r>
              <a:rPr lang="de-AT">
                <a:ea typeface="+mn-lt"/>
                <a:cs typeface="+mn-lt"/>
              </a:rPr>
              <a:t>Mit </a:t>
            </a:r>
            <a:r>
              <a:rPr lang="de-AT" err="1">
                <a:latin typeface="Consolas"/>
              </a:rPr>
              <a:t>GetAabb</a:t>
            </a:r>
            <a:r>
              <a:rPr lang="de-AT">
                <a:latin typeface="Consolas"/>
              </a:rPr>
              <a:t>()</a:t>
            </a:r>
            <a:r>
              <a:rPr lang="de-AT">
                <a:ea typeface="+mn-lt"/>
                <a:cs typeface="+mn-lt"/>
              </a:rPr>
              <a:t> </a:t>
            </a:r>
            <a:r>
              <a:rPr lang="de-AT" err="1">
                <a:ea typeface="+mn-lt"/>
                <a:cs typeface="+mn-lt"/>
              </a:rPr>
              <a:t>Bounding</a:t>
            </a:r>
            <a:r>
              <a:rPr lang="de-AT">
                <a:ea typeface="+mn-lt"/>
                <a:cs typeface="+mn-lt"/>
              </a:rPr>
              <a:t>-Box abfragen </a:t>
            </a:r>
            <a:r>
              <a:rPr lang="de-AT" sz="1800">
                <a:ea typeface="+mn-lt"/>
                <a:cs typeface="+mn-lt"/>
              </a:rPr>
              <a:t>→ </a:t>
            </a:r>
            <a:r>
              <a:rPr lang="de-AT">
                <a:ea typeface="+mn-lt"/>
                <a:cs typeface="+mn-lt"/>
              </a:rPr>
              <a:t>Dimensionen korrekt skalieren</a:t>
            </a:r>
            <a:endParaRPr lang="de-AT"/>
          </a:p>
          <a:p>
            <a:pPr lvl="1">
              <a:buChar char="•"/>
            </a:pPr>
            <a:endParaRPr lang="de-AT" sz="1800">
              <a:ea typeface="Calibri"/>
              <a:cs typeface="Calibri"/>
            </a:endParaRPr>
          </a:p>
          <a:p>
            <a:endParaRPr lang="de-AT"/>
          </a:p>
          <a:p>
            <a:r>
              <a:rPr lang="de-AT" sz="2400" b="1">
                <a:solidFill>
                  <a:srgbClr val="0070C0"/>
                </a:solidFill>
                <a:ea typeface="+mn-lt"/>
                <a:cs typeface="+mn-lt"/>
              </a:rPr>
              <a:t>Texturen verschmieren auf den Assets</a:t>
            </a:r>
            <a:endParaRPr lang="de-AT" b="1"/>
          </a:p>
          <a:p>
            <a:pPr lvl="1">
              <a:buFont typeface="Arial"/>
              <a:buChar char="•"/>
            </a:pPr>
            <a:r>
              <a:rPr lang="de-AT" sz="1800">
                <a:ea typeface="+mn-lt"/>
                <a:cs typeface="+mn-lt"/>
              </a:rPr>
              <a:t>Problem: </a:t>
            </a:r>
            <a:r>
              <a:rPr lang="de-AT">
                <a:ea typeface="+mn-lt"/>
                <a:cs typeface="+mn-lt"/>
              </a:rPr>
              <a:t>Texturen verschmierten auf Assets </a:t>
            </a:r>
            <a:endParaRPr lang="de-AT" sz="180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de-AT" sz="1800">
                <a:ea typeface="+mn-lt"/>
                <a:cs typeface="+mn-lt"/>
              </a:rPr>
              <a:t>Lösung: </a:t>
            </a:r>
            <a:r>
              <a:rPr lang="de-AT">
                <a:ea typeface="+mn-lt"/>
                <a:cs typeface="+mn-lt"/>
              </a:rPr>
              <a:t>UV-</a:t>
            </a:r>
            <a:r>
              <a:rPr lang="de-AT" err="1">
                <a:ea typeface="+mn-lt"/>
                <a:cs typeface="+mn-lt"/>
              </a:rPr>
              <a:t>Map</a:t>
            </a:r>
            <a:r>
              <a:rPr lang="de-AT">
                <a:ea typeface="+mn-lt"/>
                <a:cs typeface="+mn-lt"/>
              </a:rPr>
              <a:t> manuell angepasst</a:t>
            </a:r>
            <a:endParaRPr lang="de-AT"/>
          </a:p>
          <a:p>
            <a:pPr lvl="1">
              <a:buFontTx/>
              <a:buChar char="•"/>
            </a:pPr>
            <a:endParaRPr lang="de-AT">
              <a:solidFill>
                <a:srgbClr val="000000"/>
              </a:solidFill>
              <a:ea typeface="Calibri"/>
              <a:cs typeface="Calibri"/>
            </a:endParaRPr>
          </a:p>
          <a:p>
            <a:endParaRPr lang="de-AT" sz="2400" b="1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de-AT" sz="2400" b="1">
                <a:solidFill>
                  <a:srgbClr val="0070C0"/>
                </a:solidFill>
                <a:ea typeface="+mn-lt"/>
                <a:cs typeface="+mn-lt"/>
              </a:rPr>
              <a:t>Tischplatte importieren</a:t>
            </a:r>
            <a:endParaRPr lang="de-AT" b="1"/>
          </a:p>
          <a:p>
            <a:pPr lvl="1">
              <a:buFont typeface="Arial"/>
              <a:buChar char="•"/>
            </a:pPr>
            <a:r>
              <a:rPr lang="de-AT" sz="1800"/>
              <a:t>Problem: </a:t>
            </a:r>
            <a:r>
              <a:rPr lang="de-AT">
                <a:ea typeface="+mn-lt"/>
                <a:cs typeface="+mn-lt"/>
              </a:rPr>
              <a:t>Gesamtes Modell verursachte Fehler in Godot</a:t>
            </a:r>
            <a:endParaRPr lang="de-AT" sz="180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de-AT" sz="1800"/>
              <a:t>Lösung: </a:t>
            </a:r>
            <a:r>
              <a:rPr lang="de-AT">
                <a:ea typeface="+mn-lt"/>
                <a:cs typeface="+mn-lt"/>
              </a:rPr>
              <a:t>Komponenten (Boden, Wände, Tore) einzeln importiert</a:t>
            </a:r>
            <a:endParaRPr lang="de-AT" sz="1800">
              <a:ea typeface="+mn-lt"/>
              <a:cs typeface="+mn-lt"/>
            </a:endParaRPr>
          </a:p>
        </p:txBody>
      </p:sp>
      <p:sp>
        <p:nvSpPr>
          <p:cNvPr id="4" name="Fz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Lanzmaier</a:t>
            </a:r>
          </a:p>
        </p:txBody>
      </p:sp>
      <p:sp>
        <p:nvSpPr>
          <p:cNvPr id="5" name="S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5989F-FDC7-56C4-22A3-6B21A4AE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Fußball, Ball, Kreis, Design enthält.">
            <a:extLst>
              <a:ext uri="{FF2B5EF4-FFF2-40B4-BE49-F238E27FC236}">
                <a16:creationId xmlns:a16="http://schemas.microsoft.com/office/drawing/2014/main" id="{418BFAEA-E897-DB0D-0CDB-A3FCC7E7A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5599" r="7060" b="7334"/>
          <a:stretch>
            <a:fillRect/>
          </a:stretch>
        </p:blipFill>
        <p:spPr>
          <a:xfrm>
            <a:off x="795528" y="1593490"/>
            <a:ext cx="4221924" cy="4191657"/>
          </a:xfrm>
          <a:prstGeom prst="rect">
            <a:avLst/>
          </a:prstGeom>
        </p:spPr>
      </p:pic>
      <p:sp>
        <p:nvSpPr>
          <p:cNvPr id="6" name="Rectangle 1026">
            <a:extLst>
              <a:ext uri="{FF2B5EF4-FFF2-40B4-BE49-F238E27FC236}">
                <a16:creationId xmlns:a16="http://schemas.microsoft.com/office/drawing/2014/main" id="{35238530-B5C5-323F-5811-E83B5CB3F027}"/>
              </a:ext>
            </a:extLst>
          </p:cNvPr>
          <p:cNvSpPr txBox="1">
            <a:spLocks noChangeArrowheads="1"/>
          </p:cNvSpPr>
          <p:nvPr/>
        </p:nvSpPr>
        <p:spPr>
          <a:xfrm>
            <a:off x="5465508" y="2767584"/>
            <a:ext cx="5800312" cy="1015663"/>
          </a:xfrm>
          <a:prstGeom prst="rect">
            <a:avLst/>
          </a:prstGeom>
        </p:spPr>
        <p:txBody>
          <a:bodyPr/>
          <a:lstStyle/>
          <a:p>
            <a:r>
              <a:rPr lang="de-AT" sz="3200" b="1">
                <a:solidFill>
                  <a:srgbClr val="9BBB59"/>
                </a:solidFill>
              </a:rPr>
              <a:t>Vielen Dank für Ihre</a:t>
            </a:r>
          </a:p>
          <a:p>
            <a:r>
              <a:rPr lang="de-AT" sz="3200" b="1">
                <a:solidFill>
                  <a:srgbClr val="9BBB59"/>
                </a:solidFill>
              </a:rPr>
              <a:t>Aufmerksamkeit!</a:t>
            </a: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91B6A9E9-0596-0155-264E-99AE81516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3901393"/>
            <a:ext cx="6373812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45720" rIns="54000" bIns="45720" anchor="t">
            <a:spAutoFit/>
          </a:bodyPr>
          <a:lstStyle/>
          <a:p>
            <a:pPr algn="r"/>
            <a:r>
              <a:rPr lang="nl-NL" sz="2000" b="1"/>
              <a:t>Luan Lanzmaier</a:t>
            </a:r>
            <a:endParaRPr lang="nl-NL" sz="2000" b="1">
              <a:ea typeface="Calibri"/>
              <a:cs typeface="Calibri"/>
            </a:endParaRPr>
          </a:p>
          <a:p>
            <a:pPr algn="r"/>
            <a:r>
              <a:rPr lang="nl-NL" sz="1600"/>
              <a:t>André Rath</a:t>
            </a:r>
            <a:endParaRPr lang="nl-NL" sz="1600">
              <a:ea typeface="Calibri"/>
              <a:cs typeface="Calibri"/>
            </a:endParaRPr>
          </a:p>
          <a:p>
            <a:pPr algn="r"/>
            <a:r>
              <a:rPr lang="nl-NL" sz="1600"/>
              <a:t>Nikita Schaar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A8770EAA-E88E-631E-98D7-68DB5F210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4900341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/>
              <a:t>08.04.2026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03FD4EBE-57C5-D269-BA7F-E2393B7EA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339355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/>
              <a:t>Betreuer/in: Günther Hutter,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3DF00026-B574-931E-54DE-CFB34272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69197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2193930194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8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AB8AB9-BAA7-47F8-ADFD-BE76A88A9F8D}">
  <we:reference id="wa200010001" version="1.0.0.0" store="de-DE" storeType="OMEX"/>
  <we:alternateReferences>
    <we:reference id="wa200010001" version="1.0.0.0" store="" storeType="OMEX"/>
  </we:alternateReferences>
  <we:properties>
    <we:property name="claude.fileId" value="&quot;300ab715-03f7-4bff-af10-b4fa85b3a1b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09AE3-FA1D-40C8-A6CE-A2D9F55131C8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Breitbild</PresentationFormat>
  <Paragraphs>115</Paragraphs>
  <Slides>9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Adobe Gothic Std B</vt:lpstr>
      <vt:lpstr>Arial</vt:lpstr>
      <vt:lpstr>Calibri</vt:lpstr>
      <vt:lpstr>Consolas</vt:lpstr>
      <vt:lpstr>Larissa</vt:lpstr>
      <vt:lpstr>PowerPoint-Präsentation</vt:lpstr>
      <vt:lpstr>Agenda</vt:lpstr>
      <vt:lpstr>Erstellung der Assets</vt:lpstr>
      <vt:lpstr>Asset-Optimierung</vt:lpstr>
      <vt:lpstr>Erstellung und Baking von Texture Maps</vt:lpstr>
      <vt:lpstr>Engine-Integration</vt:lpstr>
      <vt:lpstr>Multiplayer-Konzept</vt:lpstr>
      <vt:lpstr>Herausforderungen &amp; Lösungen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Schaar Nikita</cp:lastModifiedBy>
  <cp:revision>2</cp:revision>
  <cp:lastPrinted>2020-04-02T17:36:48Z</cp:lastPrinted>
  <dcterms:created xsi:type="dcterms:W3CDTF">2012-09-14T17:11:23Z</dcterms:created>
  <dcterms:modified xsi:type="dcterms:W3CDTF">2026-04-07T10:46:48Z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