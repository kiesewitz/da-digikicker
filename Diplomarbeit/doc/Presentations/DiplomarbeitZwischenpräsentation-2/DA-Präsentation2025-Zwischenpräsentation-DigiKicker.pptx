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82" r:id="rId6"/>
    <p:sldId id="2583" r:id="rId7"/>
    <p:sldId id="2588" r:id="rId8"/>
    <p:sldId id="2590" r:id="rId9"/>
    <p:sldId id="2591" r:id="rId10"/>
    <p:sldId id="2585" r:id="rId11"/>
    <p:sldId id="2592" r:id="rId12"/>
    <p:sldId id="2594" r:id="rId13"/>
  </p:sldIdLst>
  <p:sldSz cx="12192000" cy="6858000"/>
  <p:notesSz cx="7099300" cy="10234613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 userDrawn="1">
          <p15:clr>
            <a:srgbClr val="A4A3A4"/>
          </p15:clr>
        </p15:guide>
        <p15:guide id="2" pos="2237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FDFD"/>
    <a:srgbClr val="F4AE00"/>
    <a:srgbClr val="660033"/>
    <a:srgbClr val="437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28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684" y="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5592"/>
    </p:cViewPr>
  </p:sorter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6" y="1"/>
            <a:ext cx="3075647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4021999" y="1"/>
            <a:ext cx="3075646" cy="511486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4597EA2D-D11E-4F11-940E-96FC3DC86B48}" type="datetimeFigureOut">
              <a:rPr lang="de-DE" smtClean="0"/>
              <a:pPr/>
              <a:t>24.02.2026</a:t>
            </a:fld>
            <a:endParaRPr lang="de-AT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6" y="9721499"/>
            <a:ext cx="3075647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4021999" y="9721499"/>
            <a:ext cx="3075646" cy="511485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ED1FD422-38C1-46E5-AEB3-FCA53D65A208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33588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4021299" y="1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/>
          <a:lstStyle>
            <a:lvl1pPr algn="r">
              <a:defRPr sz="1300"/>
            </a:lvl1pPr>
          </a:lstStyle>
          <a:p>
            <a:fld id="{25FA59D5-1C02-4780-AF81-09ADAD492357}" type="datetimeFigureOut">
              <a:rPr lang="de-AT" smtClean="0"/>
              <a:pPr/>
              <a:t>24.02.2026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139700" y="766763"/>
            <a:ext cx="6819900" cy="383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519" tIns="47259" rIns="94519" bIns="47259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709931" y="4861442"/>
            <a:ext cx="5679440" cy="4605576"/>
          </a:xfrm>
          <a:prstGeom prst="rect">
            <a:avLst/>
          </a:prstGeom>
        </p:spPr>
        <p:txBody>
          <a:bodyPr vert="horz" lIns="94519" tIns="47259" rIns="94519" bIns="47259" rtlCol="0"/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l">
              <a:defRPr sz="13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4021299" y="9721106"/>
            <a:ext cx="3076364" cy="511731"/>
          </a:xfrm>
          <a:prstGeom prst="rect">
            <a:avLst/>
          </a:prstGeom>
        </p:spPr>
        <p:txBody>
          <a:bodyPr vert="horz" lIns="94519" tIns="47259" rIns="94519" bIns="47259" rtlCol="0" anchor="b"/>
          <a:lstStyle>
            <a:lvl1pPr algn="r">
              <a:defRPr sz="1300"/>
            </a:lvl1pPr>
          </a:lstStyle>
          <a:p>
            <a:fld id="{7AA6D168-C717-485B-B0C8-699ECBDF2CFF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3277337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1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79323909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6324BE-4751-3562-D193-FCFBBB4003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56F5319E-0A25-CF2C-8EBE-71789138702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39700" y="766763"/>
            <a:ext cx="6819900" cy="3836987"/>
          </a:xfrm>
        </p:spPr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3BDE7E94-F413-9076-F818-0DEE0920A84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AC3D54E-136A-F083-9082-9EA72AA5433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AA6D168-C717-485B-B0C8-699ECBDF2CFF}" type="slidenum">
              <a:rPr lang="de-AT" smtClean="0"/>
              <a:pPr/>
              <a:t>9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625928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3DBAB2-6CCA-40C7-8885-2C056A77E284}" type="datetime1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000"/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sp>
        <p:nvSpPr>
          <p:cNvPr id="14" name="Textfeld 13"/>
          <p:cNvSpPr txBox="1"/>
          <p:nvPr userDrawn="1"/>
        </p:nvSpPr>
        <p:spPr>
          <a:xfrm>
            <a:off x="1967541" y="6381328"/>
            <a:ext cx="268829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www.</a:t>
            </a:r>
            <a:r>
              <a:rPr lang="de-AT" sz="16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htl-</a:t>
            </a:r>
            <a:r>
              <a:rPr lang="de-AT" sz="1600">
                <a:solidFill>
                  <a:schemeClr val="tx2"/>
                </a:solidFill>
                <a:latin typeface="Adobe Gothic Std B" pitchFamily="34" charset="-128"/>
                <a:ea typeface="Adobe Gothic Std B" pitchFamily="34" charset="-128"/>
              </a:rPr>
              <a:t>leoben</a:t>
            </a:r>
            <a:r>
              <a:rPr lang="de-AT" sz="1100">
                <a:solidFill>
                  <a:schemeClr val="bg1">
                    <a:lumMod val="50000"/>
                  </a:schemeClr>
                </a:solidFill>
                <a:latin typeface="Adobe Gothic Std B" pitchFamily="34" charset="-128"/>
                <a:ea typeface="Adobe Gothic Std B" pitchFamily="34" charset="-128"/>
              </a:rPr>
              <a:t>.at</a:t>
            </a:r>
          </a:p>
        </p:txBody>
      </p:sp>
      <p:pic>
        <p:nvPicPr>
          <p:cNvPr id="12" name="Grafik 11">
            <a:extLst>
              <a:ext uri="{FF2B5EF4-FFF2-40B4-BE49-F238E27FC236}">
                <a16:creationId xmlns:a16="http://schemas.microsoft.com/office/drawing/2014/main" id="{0AF41BCF-DE93-46E8-96C4-64339D15768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66800" y="259200"/>
            <a:ext cx="6224367" cy="12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2057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9158" y="188640"/>
            <a:ext cx="10270380" cy="720080"/>
          </a:xfrm>
        </p:spPr>
        <p:txBody>
          <a:bodyPr>
            <a:normAutofit/>
          </a:bodyPr>
          <a:lstStyle>
            <a:lvl1pPr>
              <a:defRPr sz="3000"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09600" y="1052739"/>
            <a:ext cx="10972800" cy="5073427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FB591F-AE7F-406B-977E-415D708CD05B}" type="datetime1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9" name="Gerade Verbindung 8"/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Gerade Verbindung 8"/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Grafik 11">
            <a:extLst>
              <a:ext uri="{FF2B5EF4-FFF2-40B4-BE49-F238E27FC236}">
                <a16:creationId xmlns:a16="http://schemas.microsoft.com/office/drawing/2014/main" id="{614C7656-561A-4230-AE49-F934B21548D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68960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706083"/>
          </a:xfrm>
        </p:spPr>
        <p:txBody>
          <a:bodyPr/>
          <a:lstStyle/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09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0" y="103179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DED4213-31A7-43A9-B381-650B72838F3D}" type="datetime1">
              <a:rPr lang="de-AT" smtClean="0"/>
              <a:t>24.02.2026</a:t>
            </a:fld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26" name="Gerade Verbindung 8">
            <a:extLst>
              <a:ext uri="{FF2B5EF4-FFF2-40B4-BE49-F238E27FC236}">
                <a16:creationId xmlns:a16="http://schemas.microsoft.com/office/drawing/2014/main" id="{B231FD8D-BD46-413B-B98F-46B87457439F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Gerade Verbindung 8">
            <a:extLst>
              <a:ext uri="{FF2B5EF4-FFF2-40B4-BE49-F238E27FC236}">
                <a16:creationId xmlns:a16="http://schemas.microsoft.com/office/drawing/2014/main" id="{FF9F6E03-68AB-4FB8-BF89-42F3F9730FF5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Fußzeilenplatzhalter 4">
            <a:extLst>
              <a:ext uri="{FF2B5EF4-FFF2-40B4-BE49-F238E27FC236}">
                <a16:creationId xmlns:a16="http://schemas.microsoft.com/office/drawing/2014/main" id="{61780AA7-F848-43F9-AE0D-14BBE9A66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3" name="Grafik 12">
            <a:extLst>
              <a:ext uri="{FF2B5EF4-FFF2-40B4-BE49-F238E27FC236}">
                <a16:creationId xmlns:a16="http://schemas.microsoft.com/office/drawing/2014/main" id="{F16B0F48-B7CD-4678-8B22-ED12B938C2A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45169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639762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941989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 dirty="0"/>
              <a:t>Textmasterformat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1705316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941989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1705316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7" name="Datumsplatzhalt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623C63-4118-48BA-956A-11DEEC1AA07D}" type="datetime1">
              <a:rPr lang="de-AT" smtClean="0"/>
              <a:t>24.02.2026</a:t>
            </a:fld>
            <a:endParaRPr lang="de-AT"/>
          </a:p>
        </p:txBody>
      </p:sp>
      <p:sp>
        <p:nvSpPr>
          <p:cNvPr id="9" name="Foliennummernplatzhalt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  <p:cxnSp>
        <p:nvCxnSpPr>
          <p:cNvPr id="12" name="Gerade Verbindung 8">
            <a:extLst>
              <a:ext uri="{FF2B5EF4-FFF2-40B4-BE49-F238E27FC236}">
                <a16:creationId xmlns:a16="http://schemas.microsoft.com/office/drawing/2014/main" id="{D2F1EB9E-8380-425B-B884-1A5E1DD9E9F2}"/>
              </a:ext>
            </a:extLst>
          </p:cNvPr>
          <p:cNvCxnSpPr/>
          <p:nvPr userDrawn="1"/>
        </p:nvCxnSpPr>
        <p:spPr>
          <a:xfrm>
            <a:off x="623392" y="980728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8">
            <a:extLst>
              <a:ext uri="{FF2B5EF4-FFF2-40B4-BE49-F238E27FC236}">
                <a16:creationId xmlns:a16="http://schemas.microsoft.com/office/drawing/2014/main" id="{C32164E0-C3F5-4411-BA01-05D65208091F}"/>
              </a:ext>
            </a:extLst>
          </p:cNvPr>
          <p:cNvCxnSpPr/>
          <p:nvPr userDrawn="1"/>
        </p:nvCxnSpPr>
        <p:spPr>
          <a:xfrm>
            <a:off x="623392" y="6237312"/>
            <a:ext cx="11616000" cy="0"/>
          </a:xfrm>
          <a:prstGeom prst="line">
            <a:avLst/>
          </a:prstGeom>
          <a:ln w="19050">
            <a:gradFill>
              <a:gsLst>
                <a:gs pos="0">
                  <a:srgbClr val="DDEBCF"/>
                </a:gs>
                <a:gs pos="50000">
                  <a:srgbClr val="9CB86E"/>
                </a:gs>
                <a:gs pos="100000">
                  <a:srgbClr val="156B13"/>
                </a:gs>
              </a:gsLst>
              <a:lin ang="5400000" scaled="0"/>
            </a:gradFill>
          </a:ln>
          <a:scene3d>
            <a:camera prst="orthographicFront"/>
            <a:lightRig rig="threePt" dir="t"/>
          </a:scene3d>
          <a:sp3d extrusionH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Fußzeilenplatzhalter 4">
            <a:extLst>
              <a:ext uri="{FF2B5EF4-FFF2-40B4-BE49-F238E27FC236}">
                <a16:creationId xmlns:a16="http://schemas.microsoft.com/office/drawing/2014/main" id="{155BF4B4-4484-4D9C-BFD8-E75462DA4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>
            <a:lvl1pPr>
              <a:defRPr sz="1600" b="1"/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pic>
        <p:nvPicPr>
          <p:cNvPr id="17" name="Grafik 16">
            <a:extLst>
              <a:ext uri="{FF2B5EF4-FFF2-40B4-BE49-F238E27FC236}">
                <a16:creationId xmlns:a16="http://schemas.microsoft.com/office/drawing/2014/main" id="{F5378A7E-CD4F-4738-BF47-8D1B09A9131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69600" y="6357600"/>
            <a:ext cx="1780861" cy="370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04677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de-AT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Textmasterformat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3FB355E-663F-46F6-A58A-7E827B834F26}" type="datetime1">
              <a:rPr lang="de-AT" smtClean="0"/>
              <a:t>24.02.2026</a:t>
            </a:fld>
            <a:endParaRPr lang="de-AT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de-AT"/>
              <a:t>Diplomarbeit Name, Name</a:t>
            </a:r>
            <a:endParaRPr lang="de-AT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CD6803-3BAA-44F6-A698-23D950C9713B}" type="slidenum">
              <a:rPr lang="de-AT" smtClean="0"/>
              <a:pPr/>
              <a:t>‹Nr.›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8408440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3" r:id="rId4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405F5207-B391-D8DA-757D-EF4E8F74FEE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/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 err="1">
                <a:solidFill>
                  <a:srgbClr val="9BBB59"/>
                </a:solidFill>
              </a:rPr>
              <a:t>DigiKicker</a:t>
            </a:r>
            <a:r>
              <a:rPr lang="de-AT" sz="3200" b="1" dirty="0">
                <a:solidFill>
                  <a:srgbClr val="9BBB59"/>
                </a:solidFill>
              </a:rPr>
              <a:t> – Digitalisierung eines Tischfußballtisches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ED76D2C5-1C5A-49E1-B111-D7EA454A94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Luan Lanzmaier</a:t>
            </a:r>
          </a:p>
          <a:p>
            <a:pPr algn="r"/>
            <a:r>
              <a:rPr lang="nl-NL" sz="2000" dirty="0"/>
              <a:t>André Rath</a:t>
            </a:r>
          </a:p>
          <a:p>
            <a:pPr algn="r"/>
            <a:r>
              <a:rPr lang="nl-NL" sz="2000" dirty="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CF2A42E-995E-450D-9017-7EE5A0A26C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549EEA25-235A-4DB2-B18D-8226E1B72D9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0CE138CF-753E-4573-B47E-8055A445E2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948036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Aufgabenstellungen</a:t>
            </a:r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617948" y="976539"/>
            <a:ext cx="10972800" cy="5290911"/>
          </a:xfrm>
        </p:spPr>
        <p:txBody>
          <a:bodyPr>
            <a:normAutofit/>
          </a:bodyPr>
          <a:lstStyle/>
          <a:p>
            <a:r>
              <a:rPr lang="de-AT" dirty="0"/>
              <a:t>Aufgabenstellungen</a:t>
            </a:r>
          </a:p>
          <a:p>
            <a:pPr lvl="1"/>
            <a:r>
              <a:rPr lang="de-DE" dirty="0"/>
              <a:t>Schaar</a:t>
            </a:r>
          </a:p>
          <a:p>
            <a:pPr lvl="2"/>
            <a:r>
              <a:rPr lang="de-DE" dirty="0"/>
              <a:t>Hardwaredesign (Hülle, Elektronik)</a:t>
            </a:r>
          </a:p>
          <a:p>
            <a:pPr lvl="2"/>
            <a:r>
              <a:rPr lang="de-DE" dirty="0"/>
              <a:t>Schnittstellenentwicklung</a:t>
            </a:r>
          </a:p>
          <a:p>
            <a:pPr lvl="1"/>
            <a:r>
              <a:rPr lang="de-DE" dirty="0"/>
              <a:t>Rath</a:t>
            </a:r>
          </a:p>
          <a:p>
            <a:pPr lvl="2"/>
            <a:r>
              <a:rPr lang="de-DE" dirty="0"/>
              <a:t>Entwicklung von spielbarem Abbild</a:t>
            </a:r>
          </a:p>
          <a:p>
            <a:pPr lvl="2"/>
            <a:r>
              <a:rPr lang="de-DE" dirty="0"/>
              <a:t>Training und Erstellung von Gegner-KI</a:t>
            </a:r>
          </a:p>
          <a:p>
            <a:pPr lvl="1"/>
            <a:r>
              <a:rPr lang="de-DE" dirty="0" err="1"/>
              <a:t>Lanzmaier</a:t>
            </a:r>
            <a:endParaRPr lang="de-DE" dirty="0"/>
          </a:p>
          <a:p>
            <a:pPr lvl="2"/>
            <a:r>
              <a:rPr lang="de-DE" dirty="0"/>
              <a:t>Multiplayer-Modus (Server-Client-Verbindungsmodell)</a:t>
            </a:r>
          </a:p>
          <a:p>
            <a:pPr lvl="2"/>
            <a:r>
              <a:rPr lang="de-DE" dirty="0"/>
              <a:t>Asset-Design (3D-Modellierung, HUD-Elemente)</a:t>
            </a:r>
          </a:p>
          <a:p>
            <a:pPr lvl="2"/>
            <a:endParaRPr lang="de-DE" dirty="0"/>
          </a:p>
          <a:p>
            <a:pPr lvl="2"/>
            <a:endParaRPr lang="de-AT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2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101190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Bisherige Probleme &amp; Lösungen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Schaar</a:t>
            </a:r>
          </a:p>
          <a:p>
            <a:pPr lvl="1"/>
            <a:r>
              <a:rPr lang="de-DE" dirty="0"/>
              <a:t>Keine simplen Formen, sowie Fehler beim Design des ersten CAD-Controller-Prototypen (Stromversorgung beeinträchtigt)</a:t>
            </a:r>
          </a:p>
          <a:p>
            <a:pPr lvl="1"/>
            <a:r>
              <a:rPr lang="de-DE" dirty="0"/>
              <a:t>Überarbeitung des Modells durch u. a. Simplifizierung gewisser Formen (Zuerst zu komplexe Geometrie an den Außenwänden)</a:t>
            </a:r>
          </a:p>
          <a:p>
            <a:r>
              <a:rPr lang="de-DE" dirty="0" err="1"/>
              <a:t>Lanzmaier</a:t>
            </a:r>
            <a:endParaRPr lang="de-AT" dirty="0"/>
          </a:p>
          <a:p>
            <a:pPr lvl="1"/>
            <a:r>
              <a:rPr lang="de-AT" dirty="0"/>
              <a:t>Polygon-Komplexität bei Modellierung der Game-Assets zu hoch (Führt zur Beeinträchtigung der Real-Time-Bewegungen)</a:t>
            </a:r>
          </a:p>
          <a:p>
            <a:pPr lvl="1"/>
            <a:r>
              <a:rPr lang="de-AT" dirty="0"/>
              <a:t>Anzahl der Polygone durch verschiedene Techniken, sowie gewisse visuelle Tricks verringert, ohne die Qualität der Modelle zu beeinträchtigen.</a:t>
            </a:r>
            <a:endParaRPr lang="de-DE" dirty="0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3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06F8D842-2905-04CE-5FF8-3EFFBC74CD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</p:spTree>
    <p:extLst>
      <p:ext uri="{BB962C8B-B14F-4D97-AF65-F5344CB8AC3E}">
        <p14:creationId xmlns:p14="http://schemas.microsoft.com/office/powerpoint/2010/main" val="3925678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13CE3A3-BF26-2099-4C84-8D0DDB9A6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Schaar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3D2ABCCF-08EC-6917-DDEA-D1E153806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C3C7777E-D48B-F92B-A763-EB221ACAF7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4</a:t>
            </a:fld>
            <a:endParaRPr lang="de-AT"/>
          </a:p>
        </p:txBody>
      </p:sp>
      <p:sp>
        <p:nvSpPr>
          <p:cNvPr id="20" name="Textfeld 19">
            <a:extLst>
              <a:ext uri="{FF2B5EF4-FFF2-40B4-BE49-F238E27FC236}">
                <a16:creationId xmlns:a16="http://schemas.microsoft.com/office/drawing/2014/main" id="{1A7150E6-44A2-4B4F-C2B9-535FD76FED75}"/>
              </a:ext>
            </a:extLst>
          </p:cNvPr>
          <p:cNvSpPr txBox="1"/>
          <p:nvPr/>
        </p:nvSpPr>
        <p:spPr>
          <a:xfrm>
            <a:off x="3895949" y="5474817"/>
            <a:ext cx="441679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CAD-Prototyp</a:t>
            </a:r>
            <a:endParaRPr lang="de-AT" sz="3200" b="1" dirty="0">
              <a:latin typeface="+mj-lt"/>
            </a:endParaRPr>
          </a:p>
        </p:txBody>
      </p:sp>
      <p:pic>
        <p:nvPicPr>
          <p:cNvPr id="10" name="Grafik 9" descr="Ein Bild, das Screenshot, Entwurf, Design enthält.&#10;&#10;KI-generierte Inhalte können fehlerhaft sein.">
            <a:extLst>
              <a:ext uri="{FF2B5EF4-FFF2-40B4-BE49-F238E27FC236}">
                <a16:creationId xmlns:a16="http://schemas.microsoft.com/office/drawing/2014/main" id="{E17EACFE-358C-314D-4065-CA9052A8FA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31069" y="1179604"/>
            <a:ext cx="6348935" cy="4290289"/>
          </a:xfrm>
          <a:prstGeom prst="rect">
            <a:avLst/>
          </a:prstGeom>
        </p:spPr>
      </p:pic>
      <p:pic>
        <p:nvPicPr>
          <p:cNvPr id="12" name="Grafik 11" descr="Ein Bild, das Im Haus, Computer, Computermonitor, Büroausstattung enthält.&#10;&#10;KI-generierte Inhalte können fehlerhaft sein.">
            <a:extLst>
              <a:ext uri="{FF2B5EF4-FFF2-40B4-BE49-F238E27FC236}">
                <a16:creationId xmlns:a16="http://schemas.microsoft.com/office/drawing/2014/main" id="{5CA02367-1B96-D4D4-9E8A-EC226699445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901" r="272" b="6204"/>
          <a:stretch>
            <a:fillRect/>
          </a:stretch>
        </p:blipFill>
        <p:spPr>
          <a:xfrm>
            <a:off x="223292" y="2058285"/>
            <a:ext cx="5683728" cy="3201327"/>
          </a:xfrm>
          <a:prstGeom prst="rect">
            <a:avLst/>
          </a:prstGeom>
        </p:spPr>
      </p:pic>
      <p:pic>
        <p:nvPicPr>
          <p:cNvPr id="14" name="Grafik 13" descr="Ein Bild, das Kabel, Elektronik, Computer, Elektrische Leitungen enthält.&#10;&#10;KI-generierte Inhalte können fehlerhaft sein.">
            <a:extLst>
              <a:ext uri="{FF2B5EF4-FFF2-40B4-BE49-F238E27FC236}">
                <a16:creationId xmlns:a16="http://schemas.microsoft.com/office/drawing/2014/main" id="{7611F0E8-C370-B2B3-A0E6-A668A1CAAE1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4980" y="2058284"/>
            <a:ext cx="5683728" cy="3201327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ACBC338B-BD13-B556-D14B-370D0F5BC57D}"/>
              </a:ext>
            </a:extLst>
          </p:cNvPr>
          <p:cNvSpPr txBox="1"/>
          <p:nvPr/>
        </p:nvSpPr>
        <p:spPr>
          <a:xfrm>
            <a:off x="3471094" y="5469893"/>
            <a:ext cx="52665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Erster physischer Prototyp</a:t>
            </a:r>
            <a:endParaRPr lang="de-AT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5955146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0" grpId="1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175AA-01F9-4F41-570A-82E8698C65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fik 7">
            <a:extLst>
              <a:ext uri="{FF2B5EF4-FFF2-40B4-BE49-F238E27FC236}">
                <a16:creationId xmlns:a16="http://schemas.microsoft.com/office/drawing/2014/main" id="{3D768E76-23C6-AE3B-F7CC-3137DE58B0E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2331" y="1313344"/>
            <a:ext cx="5275990" cy="3956992"/>
          </a:xfrm>
          <a:prstGeom prst="rect">
            <a:avLst/>
          </a:prstGeom>
        </p:spPr>
      </p:pic>
      <p:sp>
        <p:nvSpPr>
          <p:cNvPr id="2" name="Titel 1">
            <a:extLst>
              <a:ext uri="{FF2B5EF4-FFF2-40B4-BE49-F238E27FC236}">
                <a16:creationId xmlns:a16="http://schemas.microsoft.com/office/drawing/2014/main" id="{A8B1E17F-5BFB-74DB-AAD9-DFAA36B658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Rath</a:t>
            </a:r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42AC1F3-CDA1-22BF-C7CF-5B024C326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E04D8C95-1B30-BDF9-1131-D99ACC1662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5</a:t>
            </a:fld>
            <a:endParaRPr lang="de-AT"/>
          </a:p>
        </p:txBody>
      </p:sp>
      <p:pic>
        <p:nvPicPr>
          <p:cNvPr id="6" name="KITrainingGame">
            <a:hlinkClick r:id="" action="ppaction://media"/>
            <a:extLst>
              <a:ext uri="{FF2B5EF4-FFF2-40B4-BE49-F238E27FC236}">
                <a16:creationId xmlns:a16="http://schemas.microsoft.com/office/drawing/2014/main" id="{A7A1FB1B-7280-46C9-6D0A-B7A53F67C91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6575920" y="1805785"/>
            <a:ext cx="5283749" cy="2972109"/>
          </a:xfrm>
          <a:prstGeom prst="rect">
            <a:avLst/>
          </a:prstGeom>
        </p:spPr>
      </p:pic>
      <p:sp>
        <p:nvSpPr>
          <p:cNvPr id="9" name="Textfeld 8">
            <a:extLst>
              <a:ext uri="{FF2B5EF4-FFF2-40B4-BE49-F238E27FC236}">
                <a16:creationId xmlns:a16="http://schemas.microsoft.com/office/drawing/2014/main" id="{19F05B5D-F2FA-DAE9-BE4C-75B284A9B8EA}"/>
              </a:ext>
            </a:extLst>
          </p:cNvPr>
          <p:cNvSpPr txBox="1"/>
          <p:nvPr/>
        </p:nvSpPr>
        <p:spPr>
          <a:xfrm>
            <a:off x="1327334" y="5469893"/>
            <a:ext cx="95540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Training der Gegner-KI mittels 2D-Game-Prototyp</a:t>
            </a:r>
            <a:endParaRPr lang="de-AT" sz="3200" b="1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4808561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2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610"/>
                            </p:stCondLst>
                            <p:childTnLst>
                              <p:par>
                                <p:cTn id="14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5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1220"/>
                            </p:stCondLst>
                            <p:childTnLst>
                              <p:par>
                                <p:cTn id="17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18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31830"/>
                            </p:stCondLst>
                            <p:childTnLst>
                              <p:par>
                                <p:cTn id="20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1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42440"/>
                            </p:stCondLst>
                            <p:childTnLst>
                              <p:par>
                                <p:cTn id="23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24" dur="10610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25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  <p:bldLst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168CCB-F8E7-5699-59FC-01710E0B6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587FF23-FB45-F2DB-3A5E-1EC3E6E114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de-AT" dirty="0"/>
              <a:t>Ergebnisse bis dato – </a:t>
            </a:r>
            <a:r>
              <a:rPr lang="de-AT" dirty="0" err="1"/>
              <a:t>Lanzmaier</a:t>
            </a:r>
            <a:endParaRPr lang="de-AT" dirty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08913E82-B7A4-E961-F784-14EB09FCD6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2AF7CA07-B1B9-2231-120C-5D3C0491D6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6</a:t>
            </a:fld>
            <a:endParaRPr lang="de-AT"/>
          </a:p>
        </p:txBody>
      </p:sp>
      <p:pic>
        <p:nvPicPr>
          <p:cNvPr id="7" name="Grafik 6" descr="Ein Bild, das Screenshot, Multimedia-Software, Text, Grafiksoftware enthält.&#10;&#10;KI-generierte Inhalte können fehlerhaft sein.">
            <a:extLst>
              <a:ext uri="{FF2B5EF4-FFF2-40B4-BE49-F238E27FC236}">
                <a16:creationId xmlns:a16="http://schemas.microsoft.com/office/drawing/2014/main" id="{47D7FFA7-5023-1104-15ED-55351062721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" y="1024128"/>
            <a:ext cx="7436104" cy="4182809"/>
          </a:xfrm>
          <a:prstGeom prst="rect">
            <a:avLst/>
          </a:prstGeom>
        </p:spPr>
      </p:pic>
      <p:pic>
        <p:nvPicPr>
          <p:cNvPr id="9" name="Grafik 8" descr="Ein Bild, das Screenshot, Multimedia-Software, Grafiksoftware, 3D-Modellierung enthält.&#10;&#10;KI-generierte Inhalte können fehlerhaft sein.">
            <a:extLst>
              <a:ext uri="{FF2B5EF4-FFF2-40B4-BE49-F238E27FC236}">
                <a16:creationId xmlns:a16="http://schemas.microsoft.com/office/drawing/2014/main" id="{E42CA883-6B06-4324-9DDB-3883A6FDDEC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1186" t="8383" r="41923" b="12016"/>
          <a:stretch>
            <a:fillRect/>
          </a:stretch>
        </p:blipFill>
        <p:spPr>
          <a:xfrm>
            <a:off x="7725552" y="1024128"/>
            <a:ext cx="4271376" cy="5184242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6FBD5FF5-004B-3373-64BB-3EFFC66048EE}"/>
              </a:ext>
            </a:extLst>
          </p:cNvPr>
          <p:cNvSpPr txBox="1"/>
          <p:nvPr/>
        </p:nvSpPr>
        <p:spPr>
          <a:xfrm>
            <a:off x="291592" y="5489257"/>
            <a:ext cx="724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Blender-Modell einer Spielfigur</a:t>
            </a:r>
            <a:endParaRPr lang="de-AT" sz="3200" b="1" dirty="0">
              <a:latin typeface="+mj-lt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4201EC3B-9984-9A7A-0D5B-5B366090CAE9}"/>
              </a:ext>
            </a:extLst>
          </p:cNvPr>
          <p:cNvSpPr txBox="1"/>
          <p:nvPr/>
        </p:nvSpPr>
        <p:spPr>
          <a:xfrm>
            <a:off x="2608580" y="5489256"/>
            <a:ext cx="72430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DE" sz="3200" b="1" dirty="0">
                <a:latin typeface="+mj-lt"/>
              </a:rPr>
              <a:t>Textur-Maps des Charakters</a:t>
            </a:r>
            <a:endParaRPr lang="de-AT" sz="3200" b="1" dirty="0">
              <a:latin typeface="+mj-lt"/>
            </a:endParaRPr>
          </a:p>
        </p:txBody>
      </p:sp>
      <p:pic>
        <p:nvPicPr>
          <p:cNvPr id="14" name="Grafik 13" descr="Ein Bild, das Text, Grafiken, Grafikdesign, Clipart enthält.&#10;&#10;KI-generierte Inhalte können fehlerhaft sein.">
            <a:extLst>
              <a:ext uri="{FF2B5EF4-FFF2-40B4-BE49-F238E27FC236}">
                <a16:creationId xmlns:a16="http://schemas.microsoft.com/office/drawing/2014/main" id="{1F1BE3CC-0ADC-3BC0-3A3E-89C204D68DFD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7212" y="1392662"/>
            <a:ext cx="3814272" cy="381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</p:pic>
      <p:pic>
        <p:nvPicPr>
          <p:cNvPr id="16" name="Grafik 15" descr="Ein Bild, das Grafiken, Grafikdesign, Kunst, Farbigkeit enthält.&#10;&#10;KI-generierte Inhalte können fehlerhaft sein.">
            <a:extLst>
              <a:ext uri="{FF2B5EF4-FFF2-40B4-BE49-F238E27FC236}">
                <a16:creationId xmlns:a16="http://schemas.microsoft.com/office/drawing/2014/main" id="{4BC46596-379B-06C8-9C1F-29726F206E37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072" y="1392662"/>
            <a:ext cx="3814272" cy="381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</p:pic>
      <p:pic>
        <p:nvPicPr>
          <p:cNvPr id="18" name="Grafik 17" descr="Ein Bild, das Grafiken, Text, Grafikdesign, Kunst enthält.&#10;&#10;KI-generierte Inhalte können fehlerhaft sein.">
            <a:extLst>
              <a:ext uri="{FF2B5EF4-FFF2-40B4-BE49-F238E27FC236}">
                <a16:creationId xmlns:a16="http://schemas.microsoft.com/office/drawing/2014/main" id="{CC897163-C980-7EE5-F8AC-22D58A6B6F6C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9352" y="1392662"/>
            <a:ext cx="3814272" cy="3814272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36214692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1" grpId="1"/>
      <p:bldP spid="1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abelle 8">
            <a:extLst>
              <a:ext uri="{FF2B5EF4-FFF2-40B4-BE49-F238E27FC236}">
                <a16:creationId xmlns:a16="http://schemas.microsoft.com/office/drawing/2014/main" id="{DB08AEAD-1C60-1AA1-73C5-A2FAFCB10AE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2813252"/>
              </p:ext>
            </p:extLst>
          </p:nvPr>
        </p:nvGraphicFramePr>
        <p:xfrm>
          <a:off x="4561840" y="1374476"/>
          <a:ext cx="7020560" cy="451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1032">
                  <a:extLst>
                    <a:ext uri="{9D8B030D-6E8A-4147-A177-3AD203B41FA5}">
                      <a16:colId xmlns:a16="http://schemas.microsoft.com/office/drawing/2014/main" val="2294418901"/>
                    </a:ext>
                  </a:extLst>
                </a:gridCol>
                <a:gridCol w="4097408">
                  <a:extLst>
                    <a:ext uri="{9D8B030D-6E8A-4147-A177-3AD203B41FA5}">
                      <a16:colId xmlns:a16="http://schemas.microsoft.com/office/drawing/2014/main" val="1373481461"/>
                    </a:ext>
                  </a:extLst>
                </a:gridCol>
                <a:gridCol w="1022120">
                  <a:extLst>
                    <a:ext uri="{9D8B030D-6E8A-4147-A177-3AD203B41FA5}">
                      <a16:colId xmlns:a16="http://schemas.microsoft.com/office/drawing/2014/main" val="299481166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de-AT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Termin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Inhalt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Fertig?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313834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12.09.2025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DA-Portal befüllt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☒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2554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10.11.2025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1. DA-Präsentation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☒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66963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09.01.2026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DA-Erstversion elektronisch an Betreuer übermittelt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☒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714564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26.02.2026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2. DA-Präsentation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☒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68949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06.03.2026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DA-Abgabe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☐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80875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23.03.2026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DA-Durchsicht mit Betreuer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☐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820735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27.03.2026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DE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DA-Portal mit Hr. Messner abgeschlossen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☐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05849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DE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07.04.2026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de-DE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Abgabe – Bibliotheksversion der DA</a:t>
                      </a:r>
                    </a:p>
                    <a:p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☐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1680846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08.04.2026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u="none" strike="noStrike" baseline="0" dirty="0">
                          <a:latin typeface="72" panose="020B0503030000000003" pitchFamily="34" charset="0"/>
                          <a:cs typeface="72" panose="020B0503030000000003" pitchFamily="34" charset="0"/>
                        </a:rPr>
                        <a:t>3. DA-Präsentation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de-AT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☐</a:t>
                      </a:r>
                      <a:endParaRPr lang="de-AT" dirty="0">
                        <a:latin typeface="72" panose="020B0503030000000003" pitchFamily="34" charset="0"/>
                        <a:cs typeface="72" panose="020B0503030000000003" pitchFamily="34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18357723"/>
                  </a:ext>
                </a:extLst>
              </a:tr>
            </a:tbl>
          </a:graphicData>
        </a:graphic>
      </p:graphicFrame>
      <p:sp>
        <p:nvSpPr>
          <p:cNvPr id="2" name="Titel 1">
            <a:extLst>
              <a:ext uri="{FF2B5EF4-FFF2-40B4-BE49-F238E27FC236}">
                <a16:creationId xmlns:a16="http://schemas.microsoft.com/office/drawing/2014/main" id="{E496C6BA-99A1-43F4-92B8-B6D762EF0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Projektmanagement</a:t>
            </a:r>
            <a:endParaRPr lang="de-AT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B38338F-922C-40A7-B140-637B82770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7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6B18A04F-4951-2C04-8359-5D0AD75AD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</p:spTree>
    <p:extLst>
      <p:ext uri="{BB962C8B-B14F-4D97-AF65-F5344CB8AC3E}">
        <p14:creationId xmlns:p14="http://schemas.microsoft.com/office/powerpoint/2010/main" val="2525704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57DA74-FBA9-BA29-BAC9-1524F146E9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3DBCECA-FFE3-F79C-5F8D-44E70C34D2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/>
              <a:t>Weitere Vorgehensweise / Nächste Ziele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67475FA0-D28C-B113-E02C-17AE427683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Schaar</a:t>
            </a:r>
          </a:p>
          <a:p>
            <a:pPr lvl="1"/>
            <a:r>
              <a:rPr lang="de-DE" dirty="0" err="1"/>
              <a:t>Redesign</a:t>
            </a:r>
            <a:r>
              <a:rPr lang="de-DE" dirty="0"/>
              <a:t> der Controller-Hardware mit entwickelten Anpassungen</a:t>
            </a:r>
          </a:p>
          <a:p>
            <a:pPr lvl="1"/>
            <a:r>
              <a:rPr lang="de-DE" dirty="0"/>
              <a:t>Test von verschiedenen Microcontrollern/Sensoren, sowie Vergleich dieser</a:t>
            </a:r>
          </a:p>
          <a:p>
            <a:r>
              <a:rPr lang="de-DE" dirty="0"/>
              <a:t>Rath</a:t>
            </a:r>
            <a:endParaRPr lang="de-AT" dirty="0"/>
          </a:p>
          <a:p>
            <a:pPr lvl="1"/>
            <a:r>
              <a:rPr lang="de-AT" dirty="0"/>
              <a:t>Weiteres Training des KI-Modells für den CPU-Gegner</a:t>
            </a:r>
          </a:p>
          <a:p>
            <a:pPr lvl="1"/>
            <a:r>
              <a:rPr lang="de-AT" dirty="0"/>
              <a:t>Umsetzung eines 3D-Prototypen des Spiels mithilfe der erstellten Assets</a:t>
            </a:r>
          </a:p>
          <a:p>
            <a:r>
              <a:rPr lang="de-DE" dirty="0" err="1"/>
              <a:t>Lanzmaier</a:t>
            </a:r>
            <a:endParaRPr lang="de-AT" dirty="0"/>
          </a:p>
          <a:p>
            <a:pPr lvl="1"/>
            <a:r>
              <a:rPr lang="de-AT" dirty="0"/>
              <a:t>Erstellung der restlichen Modelle/Assets für das Spiel, sowie Design </a:t>
            </a:r>
            <a:br>
              <a:rPr lang="de-AT" dirty="0"/>
            </a:br>
            <a:r>
              <a:rPr lang="de-AT" dirty="0"/>
              <a:t>der HUD-/Menü-Elemente</a:t>
            </a:r>
          </a:p>
          <a:p>
            <a:pPr lvl="1"/>
            <a:r>
              <a:rPr lang="de-AT" dirty="0"/>
              <a:t>Umsetzung von einem Server-Modell für die Verbindung </a:t>
            </a:r>
            <a:r>
              <a:rPr lang="de-AT"/>
              <a:t>mehrerer Game-Clients</a:t>
            </a:r>
            <a:endParaRPr lang="de-DE" dirty="0"/>
          </a:p>
          <a:p>
            <a:pPr lvl="1"/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80277F46-A9AE-46E2-B67F-83F534EB9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CD6803-3BAA-44F6-A698-23D950C9713B}" type="slidenum">
              <a:rPr lang="de-AT" smtClean="0"/>
              <a:pPr/>
              <a:t>8</a:t>
            </a:fld>
            <a:endParaRPr lang="de-AT"/>
          </a:p>
        </p:txBody>
      </p:sp>
      <p:sp>
        <p:nvSpPr>
          <p:cNvPr id="6" name="Fußzeilenplatzhalter 3">
            <a:extLst>
              <a:ext uri="{FF2B5EF4-FFF2-40B4-BE49-F238E27FC236}">
                <a16:creationId xmlns:a16="http://schemas.microsoft.com/office/drawing/2014/main" id="{8F3EF259-BAA4-0191-E536-B9AF9A349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39617" y="6356353"/>
            <a:ext cx="8160907" cy="365125"/>
          </a:xfrm>
        </p:spPr>
        <p:txBody>
          <a:bodyPr/>
          <a:lstStyle/>
          <a:p>
            <a:r>
              <a:rPr lang="de-AT" dirty="0" err="1"/>
              <a:t>DigiKicker</a:t>
            </a:r>
            <a:r>
              <a:rPr lang="de-AT" dirty="0"/>
              <a:t> - </a:t>
            </a:r>
            <a:r>
              <a:rPr lang="de-AT" dirty="0" err="1"/>
              <a:t>Lanzmaier</a:t>
            </a:r>
            <a:r>
              <a:rPr lang="de-AT" dirty="0"/>
              <a:t>, Rath, Schaar</a:t>
            </a:r>
          </a:p>
        </p:txBody>
      </p:sp>
    </p:spTree>
    <p:extLst>
      <p:ext uri="{BB962C8B-B14F-4D97-AF65-F5344CB8AC3E}">
        <p14:creationId xmlns:p14="http://schemas.microsoft.com/office/powerpoint/2010/main" val="35953568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2BE66C-9C0C-D412-A85C-15EC067DDB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Fußball, Ball, Kreis, Design enthält.">
            <a:extLst>
              <a:ext uri="{FF2B5EF4-FFF2-40B4-BE49-F238E27FC236}">
                <a16:creationId xmlns:a16="http://schemas.microsoft.com/office/drawing/2014/main" id="{1733FAA8-0B4A-F938-1BC6-DF8E5FF50D8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45" t="5599" r="7060" b="7334"/>
          <a:stretch>
            <a:fillRect/>
          </a:stretch>
        </p:blipFill>
        <p:spPr>
          <a:xfrm>
            <a:off x="795528" y="1593490"/>
            <a:ext cx="4221924" cy="4191657"/>
          </a:xfrm>
          <a:prstGeom prst="rect">
            <a:avLst/>
          </a:prstGeom>
        </p:spPr>
      </p:pic>
      <p:sp>
        <p:nvSpPr>
          <p:cNvPr id="6" name="Rectangle 1026">
            <a:extLst>
              <a:ext uri="{FF2B5EF4-FFF2-40B4-BE49-F238E27FC236}">
                <a16:creationId xmlns:a16="http://schemas.microsoft.com/office/drawing/2014/main" id="{248BBD59-3DBD-FADF-6D6D-0A5239E2F765}"/>
              </a:ext>
            </a:extLst>
          </p:cNvPr>
          <p:cNvSpPr txBox="1">
            <a:spLocks noChangeArrowheads="1"/>
          </p:cNvSpPr>
          <p:nvPr/>
        </p:nvSpPr>
        <p:spPr>
          <a:xfrm>
            <a:off x="5465508" y="2767584"/>
            <a:ext cx="5800312" cy="1015663"/>
          </a:xfrm>
          <a:prstGeom prst="rect">
            <a:avLst/>
          </a:prstGeom>
        </p:spPr>
        <p:txBody>
          <a:bodyPr/>
          <a:lstStyle/>
          <a:p>
            <a:r>
              <a:rPr lang="de-AT" sz="3200" b="1" dirty="0">
                <a:solidFill>
                  <a:srgbClr val="9BBB59"/>
                </a:solidFill>
              </a:rPr>
              <a:t>Vielen Dank für Ihre</a:t>
            </a:r>
          </a:p>
          <a:p>
            <a:r>
              <a:rPr lang="de-AT" sz="3200" b="1" dirty="0">
                <a:solidFill>
                  <a:srgbClr val="9BBB59"/>
                </a:solidFill>
              </a:rPr>
              <a:t>Aufmerksamkeit!</a:t>
            </a:r>
          </a:p>
          <a:p>
            <a:pPr lvl="0">
              <a:spcBef>
                <a:spcPct val="0"/>
              </a:spcBef>
              <a:defRPr/>
            </a:pPr>
            <a:endParaRPr lang="de-DE" sz="3200" dirty="0">
              <a:solidFill>
                <a:srgbClr val="0070C0"/>
              </a:solidFill>
            </a:endParaRPr>
          </a:p>
        </p:txBody>
      </p:sp>
      <p:sp>
        <p:nvSpPr>
          <p:cNvPr id="7" name="Text Box 1030">
            <a:extLst>
              <a:ext uri="{FF2B5EF4-FFF2-40B4-BE49-F238E27FC236}">
                <a16:creationId xmlns:a16="http://schemas.microsoft.com/office/drawing/2014/main" id="{5C38FF3B-176C-E7A5-A049-B996405D43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3901393"/>
            <a:ext cx="6373812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nl-NL" sz="2000" dirty="0"/>
              <a:t>Luan Lanzmaier</a:t>
            </a:r>
          </a:p>
          <a:p>
            <a:pPr algn="r"/>
            <a:r>
              <a:rPr lang="nl-NL" sz="2000" dirty="0"/>
              <a:t>André Rath</a:t>
            </a:r>
          </a:p>
          <a:p>
            <a:pPr algn="r"/>
            <a:r>
              <a:rPr lang="nl-NL" sz="2000" dirty="0"/>
              <a:t>Nikita Schaar</a:t>
            </a:r>
          </a:p>
        </p:txBody>
      </p:sp>
      <p:sp>
        <p:nvSpPr>
          <p:cNvPr id="8" name="Text Box 1030">
            <a:extLst>
              <a:ext uri="{FF2B5EF4-FFF2-40B4-BE49-F238E27FC236}">
                <a16:creationId xmlns:a16="http://schemas.microsoft.com/office/drawing/2014/main" id="{77ACFD83-78E4-2F2C-10CD-D02228B9CDA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4900341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/>
          <a:p>
            <a:pPr algn="r"/>
            <a:r>
              <a:rPr lang="de-AT" dirty="0"/>
              <a:t>26.02.2026</a:t>
            </a:r>
          </a:p>
        </p:txBody>
      </p:sp>
      <p:sp>
        <p:nvSpPr>
          <p:cNvPr id="5" name="Text Box 1030">
            <a:extLst>
              <a:ext uri="{FF2B5EF4-FFF2-40B4-BE49-F238E27FC236}">
                <a16:creationId xmlns:a16="http://schemas.microsoft.com/office/drawing/2014/main" id="{A5F57D9D-ED14-B7BC-D8A1-86CB72B7DB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339355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Betreuer/in: Günther Hutter, Thomas Messner</a:t>
            </a:r>
          </a:p>
        </p:txBody>
      </p:sp>
      <p:sp>
        <p:nvSpPr>
          <p:cNvPr id="9" name="Text Box 1030">
            <a:extLst>
              <a:ext uri="{FF2B5EF4-FFF2-40B4-BE49-F238E27FC236}">
                <a16:creationId xmlns:a16="http://schemas.microsoft.com/office/drawing/2014/main" id="{2DC85149-1C55-CF7F-11A1-EAEEE6F01E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42750" y="5691972"/>
            <a:ext cx="637381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rIns="54000">
            <a:spAutoFit/>
          </a:bodyPr>
          <a:lstStyle>
            <a:defPPr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de-AT" dirty="0"/>
              <a:t>Firmenpartner: HTL Leoben</a:t>
            </a:r>
          </a:p>
        </p:txBody>
      </p:sp>
    </p:spTree>
    <p:extLst>
      <p:ext uri="{BB962C8B-B14F-4D97-AF65-F5344CB8AC3E}">
        <p14:creationId xmlns:p14="http://schemas.microsoft.com/office/powerpoint/2010/main" val="3158757733"/>
      </p:ext>
    </p:extLst>
  </p:cSld>
  <p:clrMapOvr>
    <a:masterClrMapping/>
  </p:clrMapOvr>
</p:sld>
</file>

<file path=ppt/theme/theme1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Larissa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Larissa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B5F8F8BE0F772449AA3E28E2051A517F" ma:contentTypeVersion="0" ma:contentTypeDescription="Ein neues Dokument erstellen." ma:contentTypeScope="" ma:versionID="0d260f8c1711e932026baa77adf35126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10627edd4f09c1f414843cf0643fb7b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Inhaltstyp"/>
        <xsd:element ref="dc:title" minOccurs="0" maxOccurs="1" ma:index="4" ma:displayName="Titel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91B09AE3-FA1D-40C8-A6CE-A2D9F55131C8}">
  <ds:schemaRefs>
    <ds:schemaRef ds:uri="http://purl.org/dc/terms/"/>
    <ds:schemaRef ds:uri="http://schemas.microsoft.com/office/2006/metadata/properties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www.w3.org/XML/1998/namespace"/>
    <ds:schemaRef ds:uri="http://purl.org/dc/elements/1.1/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A62B322D-2084-418A-8960-B074ADC5B6DB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2C214F1-4297-4767-8275-0DA039616A9F}">
  <ds:schemaRefs>
    <ds:schemaRef ds:uri="http://purl.org/dc/elements/1.1/"/>
    <ds:schemaRef ds:uri="http://purl.org/dc/terms/"/>
    <ds:schemaRef ds:uri="http://schemas.microsoft.com/internal/obd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366</Words>
  <Application>Microsoft Office PowerPoint</Application>
  <PresentationFormat>Breitbild</PresentationFormat>
  <Paragraphs>98</Paragraphs>
  <Slides>9</Slides>
  <Notes>2</Notes>
  <HiddenSlides>0</HiddenSlides>
  <MMClips>1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9</vt:i4>
      </vt:variant>
    </vt:vector>
  </HeadingPairs>
  <TitlesOfParts>
    <vt:vector size="14" baseType="lpstr">
      <vt:lpstr>72</vt:lpstr>
      <vt:lpstr>Adobe Gothic Std B</vt:lpstr>
      <vt:lpstr>Arial</vt:lpstr>
      <vt:lpstr>Calibri</vt:lpstr>
      <vt:lpstr>Larissa</vt:lpstr>
      <vt:lpstr>PowerPoint-Präsentation</vt:lpstr>
      <vt:lpstr>Aufgabenstellungen</vt:lpstr>
      <vt:lpstr>Bisherige Probleme &amp; Lösungen</vt:lpstr>
      <vt:lpstr>Ergebnisse bis dato – Schaar</vt:lpstr>
      <vt:lpstr>Ergebnisse bis dato – Rath</vt:lpstr>
      <vt:lpstr>Ergebnisse bis dato – Lanzmaier</vt:lpstr>
      <vt:lpstr>Projektmanagement</vt:lpstr>
      <vt:lpstr>Weitere Vorgehensweise / Nächste Ziele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alexandra</dc:creator>
  <cp:lastModifiedBy>Schaar Nikita</cp:lastModifiedBy>
  <cp:revision>392</cp:revision>
  <cp:lastPrinted>2020-04-02T17:36:48Z</cp:lastPrinted>
  <dcterms:created xsi:type="dcterms:W3CDTF">2012-09-14T17:11:23Z</dcterms:created>
  <dcterms:modified xsi:type="dcterms:W3CDTF">2026-02-24T10:46:04Z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0x010100B5F8F8BE0F772449AA3E28E2051A517F</vt:lpwstr>
  </property>
</Properties>
</file>