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82" r:id="rId6"/>
    <p:sldId id="2583" r:id="rId7"/>
    <p:sldId id="2584" r:id="rId8"/>
    <p:sldId id="2585" r:id="rId9"/>
    <p:sldId id="2588" r:id="rId10"/>
    <p:sldId id="2590" r:id="rId11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F4AE00"/>
    <a:srgbClr val="660033"/>
    <a:srgbClr val="437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28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4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5592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6" y="1"/>
            <a:ext cx="3075647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999" y="1"/>
            <a:ext cx="3075646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4597EA2D-D11E-4F11-940E-96FC3DC86B48}" type="datetimeFigureOut">
              <a:rPr lang="de-DE" smtClean="0"/>
              <a:pPr/>
              <a:t>08.11.2025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6" y="9721499"/>
            <a:ext cx="3075647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999" y="9721499"/>
            <a:ext cx="3075646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ED1FD422-38C1-46E5-AEB3-FCA53D65A208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3358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9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25FA59D5-1C02-4780-AF81-09ADAD492357}" type="datetimeFigureOut">
              <a:rPr lang="de-AT" smtClean="0"/>
              <a:pPr/>
              <a:t>08.11.2025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19900" cy="383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519" tIns="47259" rIns="94519" bIns="47259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519" tIns="47259" rIns="94519" bIns="47259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9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7AA6D168-C717-485B-B0C8-699ECBDF2CFF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77337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19900" cy="38369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A6D168-C717-485B-B0C8-699ECBDF2CFF}" type="slidenum">
              <a:rPr lang="de-AT" smtClean="0"/>
              <a:pPr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3239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DBAB2-6CCA-40C7-8885-2C056A77E284}" type="datetime1">
              <a:rPr lang="de-AT" smtClean="0"/>
              <a:t>08.11.2025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sp>
        <p:nvSpPr>
          <p:cNvPr id="14" name="Textfeld 13"/>
          <p:cNvSpPr txBox="1"/>
          <p:nvPr userDrawn="1"/>
        </p:nvSpPr>
        <p:spPr>
          <a:xfrm>
            <a:off x="1967541" y="6381328"/>
            <a:ext cx="2688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www.</a:t>
            </a:r>
            <a:r>
              <a:rPr lang="de-AT" sz="16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htl-</a:t>
            </a:r>
            <a:r>
              <a:rPr lang="de-AT" sz="1600">
                <a:solidFill>
                  <a:schemeClr val="tx2"/>
                </a:solidFill>
                <a:latin typeface="Adobe Gothic Std B" pitchFamily="34" charset="-128"/>
                <a:ea typeface="Adobe Gothic Std B" pitchFamily="34" charset="-128"/>
              </a:rPr>
              <a:t>leoben</a:t>
            </a:r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.at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AF41BCF-DE93-46E8-96C4-64339D1576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6800" y="259200"/>
            <a:ext cx="6224367" cy="12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05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9158" y="188640"/>
            <a:ext cx="10270380" cy="72008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9600" y="1052739"/>
            <a:ext cx="10972800" cy="50734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B591F-AE7F-406B-977E-415D708CD05B}" type="datetime1">
              <a:rPr lang="de-AT" smtClean="0"/>
              <a:t>08.11.2025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9" name="Gerade Verbindung 8"/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8"/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614C7656-561A-4230-AE49-F934B2154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9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8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4213-31A7-43A9-B381-650B72838F3D}" type="datetime1">
              <a:rPr lang="de-AT" smtClean="0"/>
              <a:t>08.11.2025</a:t>
            </a:fld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26" name="Gerade Verbindung 8">
            <a:extLst>
              <a:ext uri="{FF2B5EF4-FFF2-40B4-BE49-F238E27FC236}">
                <a16:creationId xmlns:a16="http://schemas.microsoft.com/office/drawing/2014/main" id="{B231FD8D-BD46-413B-B98F-46B87457439F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8">
            <a:extLst>
              <a:ext uri="{FF2B5EF4-FFF2-40B4-BE49-F238E27FC236}">
                <a16:creationId xmlns:a16="http://schemas.microsoft.com/office/drawing/2014/main" id="{FF9F6E03-68AB-4FB8-BF89-42F3F9730FF5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61780AA7-F848-43F9-AE0D-14BBE9A66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16B0F48-B7CD-4678-8B22-ED12B938C2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1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941989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17053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9" y="941989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9" y="1705316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3C63-4118-48BA-956A-11DEEC1AA07D}" type="datetime1">
              <a:rPr lang="de-AT" smtClean="0"/>
              <a:t>08.11.2025</a:t>
            </a:fld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12" name="Gerade Verbindung 8">
            <a:extLst>
              <a:ext uri="{FF2B5EF4-FFF2-40B4-BE49-F238E27FC236}">
                <a16:creationId xmlns:a16="http://schemas.microsoft.com/office/drawing/2014/main" id="{D2F1EB9E-8380-425B-B884-1A5E1DD9E9F2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8">
            <a:extLst>
              <a:ext uri="{FF2B5EF4-FFF2-40B4-BE49-F238E27FC236}">
                <a16:creationId xmlns:a16="http://schemas.microsoft.com/office/drawing/2014/main" id="{C32164E0-C3F5-4411-BA01-05D65208091F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155BF4B4-4484-4D9C-BFD8-E75462DA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5378A7E-CD4F-4738-BF47-8D1B09A913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6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355E-663F-46F6-A58A-7E827B834F26}" type="datetime1">
              <a:rPr lang="de-AT" smtClean="0"/>
              <a:t>08.11.2025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4084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t-aRlwLI-b0" TargetMode="External"/><Relationship Id="rId13" Type="http://schemas.openxmlformats.org/officeDocument/2006/relationships/hyperlink" Target="https://www.youtube.com/watch?v=dKRbTwEVEsQ" TargetMode="External"/><Relationship Id="rId18" Type="http://schemas.openxmlformats.org/officeDocument/2006/relationships/hyperlink" Target="https://makerworld.com/de/models/473167-608z-6000z-roller-bearing-v2?from=search#profileId-383170" TargetMode="External"/><Relationship Id="rId3" Type="http://schemas.openxmlformats.org/officeDocument/2006/relationships/hyperlink" Target="https://godotengine.org/" TargetMode="External"/><Relationship Id="rId21" Type="http://schemas.openxmlformats.org/officeDocument/2006/relationships/hyperlink" Target="https://stackoverflow.com/questions/11451618/how-do-you-read-the-mouse-button-state-from-dev-input-mice" TargetMode="External"/><Relationship Id="rId7" Type="http://schemas.openxmlformats.org/officeDocument/2006/relationships/hyperlink" Target="https://www.youtube.com/watch?v=GTrekHE8A00" TargetMode="External"/><Relationship Id="rId12" Type="http://schemas.openxmlformats.org/officeDocument/2006/relationships/hyperlink" Target="https://www.youtube.com/watch?v=M6Z07b28U9c" TargetMode="External"/><Relationship Id="rId17" Type="http://schemas.openxmlformats.org/officeDocument/2006/relationships/hyperlink" Target="https://www.espressif.com/en/products/devKits" TargetMode="External"/><Relationship Id="rId2" Type="http://schemas.openxmlformats.org/officeDocument/2006/relationships/hyperlink" Target="https://www.youtube.com/watch?v=tKY_Cx38OAM" TargetMode="External"/><Relationship Id="rId16" Type="http://schemas.openxmlformats.org/officeDocument/2006/relationships/hyperlink" Target="https://www.youtube.com/watch?v=yTc2GLXfCOY" TargetMode="External"/><Relationship Id="rId20" Type="http://schemas.openxmlformats.org/officeDocument/2006/relationships/hyperlink" Target="https://thehackerdiary.wordpress.com/2017/04/21/exploring-devinput-1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juGNPLdjLH4" TargetMode="External"/><Relationship Id="rId11" Type="http://schemas.openxmlformats.org/officeDocument/2006/relationships/hyperlink" Target="https://www.youtube.com/watch?v=Qn0KQecUMqM" TargetMode="External"/><Relationship Id="rId5" Type="http://schemas.openxmlformats.org/officeDocument/2006/relationships/hyperlink" Target="https://www.youtube.com/watch?v=HbQ6q3skZgw" TargetMode="External"/><Relationship Id="rId15" Type="http://schemas.openxmlformats.org/officeDocument/2006/relationships/hyperlink" Target="https://www.youtube.com/watch?v=RiYnucfy_rs" TargetMode="External"/><Relationship Id="rId10" Type="http://schemas.openxmlformats.org/officeDocument/2006/relationships/hyperlink" Target="https://www.youtube.com/watch?v=lMM8fA-oSI8" TargetMode="External"/><Relationship Id="rId19" Type="http://schemas.openxmlformats.org/officeDocument/2006/relationships/hyperlink" Target="https://docs.godotengine.org/de/4.x/getting_started/first_2d_game/index.html" TargetMode="External"/><Relationship Id="rId4" Type="http://schemas.openxmlformats.org/officeDocument/2006/relationships/hyperlink" Target="https://www.youtube.com/watch?v=Yuu2jnMjt7k" TargetMode="External"/><Relationship Id="rId9" Type="http://schemas.openxmlformats.org/officeDocument/2006/relationships/hyperlink" Target="https://www.youtube.com/watch?v=D0WquihUdek" TargetMode="External"/><Relationship Id="rId14" Type="http://schemas.openxmlformats.org/officeDocument/2006/relationships/hyperlink" Target="https://www.youtube.com/watch?v=wdgULBpRoXk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Fußball, Ball, Kreis, Design enthält.">
            <a:extLst>
              <a:ext uri="{FF2B5EF4-FFF2-40B4-BE49-F238E27FC236}">
                <a16:creationId xmlns:a16="http://schemas.microsoft.com/office/drawing/2014/main" id="{405F5207-B391-D8DA-757D-EF4E8F74F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5" t="5599" r="7060" b="7334"/>
          <a:stretch>
            <a:fillRect/>
          </a:stretch>
        </p:blipFill>
        <p:spPr>
          <a:xfrm>
            <a:off x="795528" y="1593490"/>
            <a:ext cx="4221924" cy="4191657"/>
          </a:xfrm>
          <a:prstGeom prst="rect">
            <a:avLst/>
          </a:prstGeom>
        </p:spPr>
      </p:pic>
      <p:sp>
        <p:nvSpPr>
          <p:cNvPr id="6" name="Rectangle 1026"/>
          <p:cNvSpPr txBox="1">
            <a:spLocks noChangeArrowheads="1"/>
          </p:cNvSpPr>
          <p:nvPr/>
        </p:nvSpPr>
        <p:spPr>
          <a:xfrm>
            <a:off x="5465508" y="2767584"/>
            <a:ext cx="5800312" cy="1015663"/>
          </a:xfrm>
          <a:prstGeom prst="rect">
            <a:avLst/>
          </a:prstGeom>
        </p:spPr>
        <p:txBody>
          <a:bodyPr/>
          <a:lstStyle/>
          <a:p>
            <a:r>
              <a:rPr lang="de-AT" sz="3200" b="1" dirty="0" err="1">
                <a:solidFill>
                  <a:srgbClr val="9BBB59"/>
                </a:solidFill>
              </a:rPr>
              <a:t>DigiKicker</a:t>
            </a:r>
            <a:r>
              <a:rPr lang="de-AT" sz="3200" b="1" dirty="0">
                <a:solidFill>
                  <a:srgbClr val="9BBB59"/>
                </a:solidFill>
              </a:rPr>
              <a:t> – Digitalisierung eines Tischfußballtisches</a:t>
            </a:r>
          </a:p>
          <a:p>
            <a:pPr lvl="0">
              <a:spcBef>
                <a:spcPct val="0"/>
              </a:spcBef>
              <a:defRPr/>
            </a:pPr>
            <a:endParaRPr lang="de-DE" sz="3200" dirty="0">
              <a:solidFill>
                <a:srgbClr val="0070C0"/>
              </a:solidFill>
            </a:endParaRPr>
          </a:p>
        </p:txBody>
      </p:sp>
      <p:sp>
        <p:nvSpPr>
          <p:cNvPr id="7" name="Text Box 1030">
            <a:extLst>
              <a:ext uri="{FF2B5EF4-FFF2-40B4-BE49-F238E27FC236}">
                <a16:creationId xmlns:a16="http://schemas.microsoft.com/office/drawing/2014/main" id="{ED76D2C5-1C5A-49E1-B111-D7EA454A9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3901393"/>
            <a:ext cx="637381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r>
              <a:rPr lang="nl-NL" sz="2000" dirty="0"/>
              <a:t>Luan Lanzmaier</a:t>
            </a:r>
          </a:p>
          <a:p>
            <a:pPr algn="r"/>
            <a:r>
              <a:rPr lang="nl-NL" sz="2000" dirty="0"/>
              <a:t>André Rath</a:t>
            </a:r>
          </a:p>
          <a:p>
            <a:pPr algn="r"/>
            <a:r>
              <a:rPr lang="nl-NL" sz="2000" dirty="0"/>
              <a:t>Nikita Schaar</a:t>
            </a:r>
          </a:p>
        </p:txBody>
      </p:sp>
      <p:sp>
        <p:nvSpPr>
          <p:cNvPr id="8" name="Text Box 1030">
            <a:extLst>
              <a:ext uri="{FF2B5EF4-FFF2-40B4-BE49-F238E27FC236}">
                <a16:creationId xmlns:a16="http://schemas.microsoft.com/office/drawing/2014/main" id="{7CF2A42E-995E-450D-9017-7EE5A0A26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4900341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r>
              <a:rPr lang="de-AT" dirty="0"/>
              <a:t>11.11.2025</a:t>
            </a:r>
          </a:p>
        </p:txBody>
      </p:sp>
      <p:sp>
        <p:nvSpPr>
          <p:cNvPr id="5" name="Text Box 1030">
            <a:extLst>
              <a:ext uri="{FF2B5EF4-FFF2-40B4-BE49-F238E27FC236}">
                <a16:creationId xmlns:a16="http://schemas.microsoft.com/office/drawing/2014/main" id="{549EEA25-235A-4DB2-B18D-8226E1B72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5339355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Betreuer/in: Günther Hutter, Thomas Messner</a:t>
            </a:r>
          </a:p>
        </p:txBody>
      </p:sp>
      <p:sp>
        <p:nvSpPr>
          <p:cNvPr id="9" name="Text Box 1030">
            <a:extLst>
              <a:ext uri="{FF2B5EF4-FFF2-40B4-BE49-F238E27FC236}">
                <a16:creationId xmlns:a16="http://schemas.microsoft.com/office/drawing/2014/main" id="{0CE138CF-753E-4573-B47E-8055A445E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5691972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Firmenpartner: HTL Leoben</a:t>
            </a:r>
          </a:p>
        </p:txBody>
      </p:sp>
    </p:spTree>
    <p:extLst>
      <p:ext uri="{BB962C8B-B14F-4D97-AF65-F5344CB8AC3E}">
        <p14:creationId xmlns:p14="http://schemas.microsoft.com/office/powerpoint/2010/main" val="3194803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Aufgabenstellung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 err="1"/>
              <a:t>DigiKicker</a:t>
            </a:r>
            <a:r>
              <a:rPr lang="de-AT" dirty="0"/>
              <a:t> - </a:t>
            </a:r>
            <a:r>
              <a:rPr lang="de-AT" dirty="0" err="1"/>
              <a:t>Lanzmaier</a:t>
            </a:r>
            <a:r>
              <a:rPr lang="de-AT" dirty="0"/>
              <a:t>, Rath, Schaar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7948" y="976539"/>
            <a:ext cx="10972800" cy="5290911"/>
          </a:xfrm>
        </p:spPr>
        <p:txBody>
          <a:bodyPr>
            <a:normAutofit/>
          </a:bodyPr>
          <a:lstStyle/>
          <a:p>
            <a:r>
              <a:rPr lang="de-AT" dirty="0"/>
              <a:t>Aufgabenstellung</a:t>
            </a:r>
          </a:p>
          <a:p>
            <a:pPr lvl="1"/>
            <a:r>
              <a:rPr lang="de-DE" dirty="0"/>
              <a:t>Controller</a:t>
            </a:r>
          </a:p>
          <a:p>
            <a:pPr lvl="2"/>
            <a:r>
              <a:rPr lang="de-DE" dirty="0"/>
              <a:t>Hardwaredesign (Hülle, Elektronik)</a:t>
            </a:r>
          </a:p>
          <a:p>
            <a:pPr lvl="2"/>
            <a:r>
              <a:rPr lang="de-DE" dirty="0"/>
              <a:t>Schnittstellenentwicklung</a:t>
            </a:r>
          </a:p>
          <a:p>
            <a:pPr lvl="1"/>
            <a:r>
              <a:rPr lang="de-DE" dirty="0"/>
              <a:t>Simulation</a:t>
            </a:r>
          </a:p>
          <a:p>
            <a:pPr lvl="2"/>
            <a:r>
              <a:rPr lang="de-DE" dirty="0"/>
              <a:t>Entwicklung von spielbarem, stilisierten Abbild</a:t>
            </a:r>
          </a:p>
          <a:p>
            <a:pPr lvl="2"/>
            <a:r>
              <a:rPr lang="de-DE" dirty="0"/>
              <a:t>Multiplayer-Modus</a:t>
            </a:r>
            <a:endParaRPr lang="de-AT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10119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Bisherige Probleme &amp; Lösungen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Schaar</a:t>
            </a:r>
          </a:p>
          <a:p>
            <a:pPr lvl="1"/>
            <a:r>
              <a:rPr lang="de-DE" dirty="0"/>
              <a:t>Keine simplen Formen, sowie Fehler beim Design des ersten CAD-Controller-Prototypen</a:t>
            </a:r>
          </a:p>
          <a:p>
            <a:pPr lvl="1"/>
            <a:r>
              <a:rPr lang="de-DE" dirty="0"/>
              <a:t>Überarbeitung des Modells durch u. a. Simplifizierung gewisser Formen</a:t>
            </a:r>
          </a:p>
          <a:p>
            <a:r>
              <a:rPr lang="de-DE" dirty="0" err="1"/>
              <a:t>Lanzmaier</a:t>
            </a:r>
            <a:endParaRPr lang="de-AT" dirty="0"/>
          </a:p>
          <a:p>
            <a:pPr lvl="1"/>
            <a:r>
              <a:rPr lang="de-AT" dirty="0"/>
              <a:t>Polygon-Komplexität bei Modellierung der Game-Assets zu hoch</a:t>
            </a:r>
          </a:p>
          <a:p>
            <a:pPr lvl="1"/>
            <a:r>
              <a:rPr lang="de-AT" dirty="0"/>
              <a:t>Anzahl der Polygone durch verschiedene Techniken, sowie gewisse visuelle Tricks verringert, ohne die Qualität der Modelle zu beeinträchtigen.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3</a:t>
            </a:fld>
            <a:endParaRPr lang="de-AT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06F8D842-2905-04CE-5FF8-3EFFBC74C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/>
          <a:p>
            <a:r>
              <a:rPr lang="de-AT" dirty="0" err="1"/>
              <a:t>DigiKicker</a:t>
            </a:r>
            <a:r>
              <a:rPr lang="de-AT" dirty="0"/>
              <a:t> - </a:t>
            </a:r>
            <a:r>
              <a:rPr lang="de-AT" dirty="0" err="1"/>
              <a:t>Lanzmaier</a:t>
            </a:r>
            <a:r>
              <a:rPr lang="de-AT" dirty="0"/>
              <a:t>, Rath, Schaar</a:t>
            </a:r>
          </a:p>
        </p:txBody>
      </p:sp>
    </p:spTree>
    <p:extLst>
      <p:ext uri="{BB962C8B-B14F-4D97-AF65-F5344CB8AC3E}">
        <p14:creationId xmlns:p14="http://schemas.microsoft.com/office/powerpoint/2010/main" val="3925678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6C6BA-99A1-43F4-92B8-B6D762EF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Literatur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28378C-21E0-453B-B255-71BAC911E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9"/>
            <a:ext cx="10972800" cy="509361"/>
          </a:xfrm>
        </p:spPr>
        <p:txBody>
          <a:bodyPr>
            <a:normAutofit lnSpcReduction="10000"/>
          </a:bodyPr>
          <a:lstStyle/>
          <a:p>
            <a:r>
              <a:rPr lang="de-DE" dirty="0"/>
              <a:t>Bis dato durchgesehen:</a:t>
            </a:r>
            <a:endParaRPr lang="de-AT" dirty="0"/>
          </a:p>
          <a:p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38338F-922C-40A7-B140-637B8277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4</a:t>
            </a:fld>
            <a:endParaRPr lang="de-AT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F50B05A9-A499-92BD-9C74-876D77B1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/>
          <a:p>
            <a:r>
              <a:rPr lang="de-AT" dirty="0" err="1"/>
              <a:t>DigiKicker</a:t>
            </a:r>
            <a:r>
              <a:rPr lang="de-AT" dirty="0"/>
              <a:t> - </a:t>
            </a:r>
            <a:r>
              <a:rPr lang="de-AT" dirty="0" err="1"/>
              <a:t>Lanzmaier</a:t>
            </a:r>
            <a:r>
              <a:rPr lang="de-AT" dirty="0"/>
              <a:t>, Rath, Schaar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D9A4120-146A-AD27-2641-92546FA6DAAD}"/>
              </a:ext>
            </a:extLst>
          </p:cNvPr>
          <p:cNvSpPr txBox="1"/>
          <p:nvPr/>
        </p:nvSpPr>
        <p:spPr>
          <a:xfrm>
            <a:off x="609600" y="1563244"/>
            <a:ext cx="5486400" cy="421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de-AT" sz="1100" dirty="0" err="1"/>
              <a:t>Harpooner</a:t>
            </a:r>
            <a:r>
              <a:rPr lang="de-AT" sz="1100" dirty="0"/>
              <a:t>, B. (2018, September 9). </a:t>
            </a:r>
            <a:r>
              <a:rPr lang="de-AT" sz="1100" dirty="0" err="1"/>
              <a:t>Choosing</a:t>
            </a:r>
            <a:r>
              <a:rPr lang="de-AT" sz="1100" dirty="0"/>
              <a:t> a game </a:t>
            </a:r>
            <a:r>
              <a:rPr lang="de-AT" sz="1100" dirty="0" err="1"/>
              <a:t>engine</a:t>
            </a:r>
            <a:r>
              <a:rPr lang="de-AT" sz="1100" dirty="0"/>
              <a:t> - Unity, Unreal Engine, Godot (Making </a:t>
            </a:r>
            <a:r>
              <a:rPr lang="de-AT" sz="1100" dirty="0" err="1"/>
              <a:t>Cyberglads</a:t>
            </a:r>
            <a:r>
              <a:rPr lang="de-AT" sz="1100" dirty="0"/>
              <a:t> 1). (</a:t>
            </a:r>
            <a:r>
              <a:rPr lang="de-AT" sz="1100" dirty="0">
                <a:hlinkClick r:id="rId2"/>
              </a:rPr>
              <a:t>https://www.youtube.com/watch?v=tKY_Cx38OAM</a:t>
            </a:r>
            <a:r>
              <a:rPr lang="de-AT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de-AT" sz="1100" dirty="0" err="1"/>
              <a:t>Linietsky</a:t>
            </a:r>
            <a:r>
              <a:rPr lang="de-AT" sz="1100" dirty="0"/>
              <a:t>, J., &amp; </a:t>
            </a:r>
            <a:r>
              <a:rPr lang="de-AT" sz="1100" dirty="0" err="1"/>
              <a:t>Manzur</a:t>
            </a:r>
            <a:r>
              <a:rPr lang="de-AT" sz="1100" dirty="0"/>
              <a:t>, A. (2025). Godot Engine. (</a:t>
            </a:r>
            <a:r>
              <a:rPr lang="de-AT" sz="1100" dirty="0">
                <a:hlinkClick r:id="rId3"/>
              </a:rPr>
              <a:t>https://godotengine.org</a:t>
            </a:r>
            <a:r>
              <a:rPr lang="de-AT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de-AT" sz="1100" dirty="0" err="1"/>
              <a:t>Sagor</a:t>
            </a:r>
            <a:r>
              <a:rPr lang="de-AT" sz="1100" dirty="0"/>
              <a:t>, H. (2022, November 3). </a:t>
            </a:r>
            <a:r>
              <a:rPr lang="de-AT" sz="1100" dirty="0" err="1"/>
              <a:t>How</a:t>
            </a:r>
            <a:r>
              <a:rPr lang="de-AT" sz="1100" dirty="0"/>
              <a:t> </a:t>
            </a:r>
            <a:r>
              <a:rPr lang="de-AT" sz="1100" dirty="0" err="1"/>
              <a:t>To</a:t>
            </a:r>
            <a:r>
              <a:rPr lang="de-AT" sz="1100" dirty="0"/>
              <a:t> Draw a Football (Soccer Ball) In Illustrator | Adobe Illustrator CC Tutorial. (</a:t>
            </a:r>
            <a:r>
              <a:rPr lang="de-AT" sz="1100" dirty="0">
                <a:hlinkClick r:id="rId4"/>
              </a:rPr>
              <a:t>https://www.youtube.com/watch?v=Yuu2jnMjt7k</a:t>
            </a:r>
            <a:r>
              <a:rPr lang="de-AT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de-AT" sz="1100" dirty="0"/>
              <a:t>Lab, S. (2023). Add USB </a:t>
            </a:r>
            <a:r>
              <a:rPr lang="de-AT" sz="1100" dirty="0" err="1"/>
              <a:t>To</a:t>
            </a:r>
            <a:r>
              <a:rPr lang="de-AT" sz="1100" dirty="0"/>
              <a:t> </a:t>
            </a:r>
            <a:r>
              <a:rPr lang="de-AT" sz="1100" dirty="0" err="1"/>
              <a:t>Your</a:t>
            </a:r>
            <a:r>
              <a:rPr lang="de-AT" sz="1100" dirty="0"/>
              <a:t> Electronics Projects! - The USB Protocol </a:t>
            </a:r>
            <a:r>
              <a:rPr lang="de-AT" sz="1100" dirty="0" err="1"/>
              <a:t>Explained</a:t>
            </a:r>
            <a:r>
              <a:rPr lang="de-AT" sz="1100" dirty="0"/>
              <a:t>. (</a:t>
            </a:r>
            <a:r>
              <a:rPr lang="de-AT" sz="1100" dirty="0">
                <a:hlinkClick r:id="rId5"/>
              </a:rPr>
              <a:t>https://www.youtube.com/watch?v=HbQ6q3skZgw</a:t>
            </a:r>
            <a:r>
              <a:rPr lang="de-AT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de-AT" sz="1100" dirty="0" err="1"/>
              <a:t>LiveOverflow</a:t>
            </a:r>
            <a:r>
              <a:rPr lang="de-AT" sz="1100" dirty="0"/>
              <a:t>. (2019, </a:t>
            </a:r>
            <a:r>
              <a:rPr lang="de-AT" sz="1100" dirty="0" err="1"/>
              <a:t>December</a:t>
            </a:r>
            <a:r>
              <a:rPr lang="de-AT" sz="1100" dirty="0"/>
              <a:t> 12). </a:t>
            </a:r>
            <a:r>
              <a:rPr lang="de-AT" sz="1100" dirty="0" err="1"/>
              <a:t>How</a:t>
            </a:r>
            <a:r>
              <a:rPr lang="de-AT" sz="1100" dirty="0"/>
              <a:t> Do Linux Kernel Drivers Work? - Learning Resource. (</a:t>
            </a:r>
            <a:r>
              <a:rPr lang="de-AT" sz="1100" dirty="0">
                <a:hlinkClick r:id="rId6"/>
              </a:rPr>
              <a:t>https://www.youtube.com/watch?v=juGNPLdjLH4</a:t>
            </a:r>
            <a:r>
              <a:rPr lang="de-AT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de-AT" sz="1100" dirty="0" err="1"/>
              <a:t>Lichtman</a:t>
            </a:r>
            <a:r>
              <a:rPr lang="de-AT" sz="1100" dirty="0"/>
              <a:t>, N. (2023, </a:t>
            </a:r>
            <a:r>
              <a:rPr lang="de-AT" sz="1100" dirty="0" err="1"/>
              <a:t>December</a:t>
            </a:r>
            <a:r>
              <a:rPr lang="de-AT" sz="1100" dirty="0"/>
              <a:t> 2). Making Simple Windows Driver in C. (</a:t>
            </a:r>
            <a:r>
              <a:rPr lang="de-AT" sz="1100" dirty="0">
                <a:hlinkClick r:id="rId7"/>
              </a:rPr>
              <a:t>https://www.youtube.com/watch?v=GTrekHE8A00</a:t>
            </a:r>
            <a:r>
              <a:rPr lang="de-AT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de-AT" sz="1100" dirty="0" err="1"/>
              <a:t>Techquickie</a:t>
            </a:r>
            <a:r>
              <a:rPr lang="de-AT" sz="1100" dirty="0"/>
              <a:t>. (2014, April 16). </a:t>
            </a:r>
            <a:r>
              <a:rPr lang="de-AT" sz="1100" dirty="0" err="1"/>
              <a:t>What</a:t>
            </a:r>
            <a:r>
              <a:rPr lang="de-AT" sz="1100" dirty="0"/>
              <a:t> </a:t>
            </a:r>
            <a:r>
              <a:rPr lang="de-AT" sz="1100" dirty="0" err="1"/>
              <a:t>is</a:t>
            </a:r>
            <a:r>
              <a:rPr lang="de-AT" sz="1100" dirty="0"/>
              <a:t> a Software Driver </a:t>
            </a:r>
            <a:r>
              <a:rPr lang="de-AT" sz="1100" dirty="0" err="1"/>
              <a:t>as</a:t>
            </a:r>
            <a:r>
              <a:rPr lang="de-AT" sz="1100" dirty="0"/>
              <a:t> Fast As Possible. (</a:t>
            </a:r>
            <a:r>
              <a:rPr lang="de-AT" sz="1100" dirty="0">
                <a:hlinkClick r:id="rId8"/>
              </a:rPr>
              <a:t>https://www.youtube.com/watch?v=t-aRlwLI-b0</a:t>
            </a:r>
            <a:r>
              <a:rPr lang="de-AT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de-AT" sz="1100" dirty="0"/>
              <a:t>de </a:t>
            </a:r>
            <a:r>
              <a:rPr lang="de-AT" sz="1100" dirty="0" err="1"/>
              <a:t>Vinck</a:t>
            </a:r>
            <a:r>
              <a:rPr lang="de-AT" sz="1100" dirty="0"/>
              <a:t>, M. (2019b, August 25). Arduino </a:t>
            </a:r>
            <a:r>
              <a:rPr lang="de-AT" sz="1100" dirty="0" err="1"/>
              <a:t>Prototyping</a:t>
            </a:r>
            <a:r>
              <a:rPr lang="de-AT" sz="1100" dirty="0"/>
              <a:t> Inputs #54: IR </a:t>
            </a:r>
            <a:r>
              <a:rPr lang="de-AT" sz="1100" dirty="0" err="1"/>
              <a:t>Proximity</a:t>
            </a:r>
            <a:r>
              <a:rPr lang="de-AT" sz="1100" dirty="0"/>
              <a:t> Sensors. (</a:t>
            </a:r>
            <a:r>
              <a:rPr lang="de-AT" sz="1100" dirty="0">
                <a:hlinkClick r:id="rId9"/>
              </a:rPr>
              <a:t>https://www.youtube.com/watch?v=D0WquihUdek</a:t>
            </a:r>
            <a:r>
              <a:rPr lang="de-AT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de-AT" sz="1100" dirty="0"/>
              <a:t>de </a:t>
            </a:r>
            <a:r>
              <a:rPr lang="de-AT" sz="1100" dirty="0" err="1"/>
              <a:t>Vinck</a:t>
            </a:r>
            <a:r>
              <a:rPr lang="de-AT" sz="1100" dirty="0"/>
              <a:t>, M. (2019a, August 24). Arduino </a:t>
            </a:r>
            <a:r>
              <a:rPr lang="de-AT" sz="1100" dirty="0" err="1"/>
              <a:t>Prototyping</a:t>
            </a:r>
            <a:r>
              <a:rPr lang="de-AT" sz="1100" dirty="0"/>
              <a:t> Inputs #53: Rotary Encoders. (</a:t>
            </a:r>
            <a:r>
              <a:rPr lang="de-AT" sz="1100" dirty="0">
                <a:hlinkClick r:id="rId10"/>
              </a:rPr>
              <a:t>https://www.youtube.com/watch?v=lMM8fA-oSI8</a:t>
            </a:r>
            <a:r>
              <a:rPr lang="de-AT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de-AT" sz="1100" dirty="0"/>
              <a:t>de </a:t>
            </a:r>
            <a:r>
              <a:rPr lang="de-AT" sz="1100" dirty="0" err="1"/>
              <a:t>Vinck</a:t>
            </a:r>
            <a:r>
              <a:rPr lang="de-AT" sz="1100" dirty="0"/>
              <a:t>, M. (2019d, September 29). Arduino </a:t>
            </a:r>
            <a:r>
              <a:rPr lang="de-AT" sz="1100" dirty="0" err="1"/>
              <a:t>Prototyping</a:t>
            </a:r>
            <a:r>
              <a:rPr lang="de-AT" sz="1100" dirty="0"/>
              <a:t> Outputs #86: </a:t>
            </a:r>
            <a:r>
              <a:rPr lang="de-AT" sz="1100" dirty="0" err="1"/>
              <a:t>Continuous</a:t>
            </a:r>
            <a:r>
              <a:rPr lang="de-AT" sz="1100" dirty="0"/>
              <a:t> Rotation Servos. (</a:t>
            </a:r>
            <a:r>
              <a:rPr lang="de-AT" sz="1100" dirty="0">
                <a:hlinkClick r:id="rId11"/>
              </a:rPr>
              <a:t>https://www.youtube.com/watch?v=Qn0KQecUMqM</a:t>
            </a:r>
            <a:r>
              <a:rPr lang="de-AT" sz="1100" dirty="0"/>
              <a:t>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89927AE-F512-6D1B-6CCC-E2DA3CC93410}"/>
              </a:ext>
            </a:extLst>
          </p:cNvPr>
          <p:cNvSpPr txBox="1"/>
          <p:nvPr/>
        </p:nvSpPr>
        <p:spPr>
          <a:xfrm>
            <a:off x="6096000" y="1563244"/>
            <a:ext cx="5486400" cy="4653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de-AT" sz="1100" dirty="0"/>
              <a:t>de </a:t>
            </a:r>
            <a:r>
              <a:rPr lang="de-AT" sz="1100" dirty="0" err="1"/>
              <a:t>Vinck</a:t>
            </a:r>
            <a:r>
              <a:rPr lang="de-AT" sz="1100" dirty="0"/>
              <a:t>, M. (2019c, September 25). Arduino </a:t>
            </a:r>
            <a:r>
              <a:rPr lang="de-AT" sz="1100" dirty="0" err="1"/>
              <a:t>Prototyping</a:t>
            </a:r>
            <a:r>
              <a:rPr lang="de-AT" sz="1100" dirty="0"/>
              <a:t> Outputs #82: Slip Rings. (</a:t>
            </a:r>
            <a:r>
              <a:rPr lang="de-AT" sz="1100" dirty="0">
                <a:hlinkClick r:id="rId12"/>
              </a:rPr>
              <a:t>https://www.youtube.com/watch?v=M6Z07b28U9c</a:t>
            </a:r>
            <a:r>
              <a:rPr lang="de-AT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de-AT" sz="1100" dirty="0"/>
              <a:t>Art, W. M. (2023, March 17). </a:t>
            </a:r>
            <a:r>
              <a:rPr lang="de-AT" sz="1100" dirty="0" err="1"/>
              <a:t>What</a:t>
            </a:r>
            <a:r>
              <a:rPr lang="de-AT" sz="1100" dirty="0"/>
              <a:t> </a:t>
            </a:r>
            <a:r>
              <a:rPr lang="de-AT" sz="1100" dirty="0" err="1"/>
              <a:t>is</a:t>
            </a:r>
            <a:r>
              <a:rPr lang="de-AT" sz="1100" dirty="0"/>
              <a:t> a </a:t>
            </a:r>
            <a:r>
              <a:rPr lang="de-AT" sz="1100" dirty="0" err="1"/>
              <a:t>slip</a:t>
            </a:r>
            <a:r>
              <a:rPr lang="de-AT" sz="1100" dirty="0"/>
              <a:t> ring? (</a:t>
            </a:r>
            <a:r>
              <a:rPr lang="de-AT" sz="1100" dirty="0">
                <a:hlinkClick r:id="rId13"/>
              </a:rPr>
              <a:t>https://www.youtube.com/watch?v=dKRbTwEVEsQ</a:t>
            </a:r>
            <a:r>
              <a:rPr lang="de-AT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en-US" sz="1100" dirty="0"/>
              <a:t>Eater, B. (2021, June 5). How does a USB keyboard work? (</a:t>
            </a:r>
            <a:r>
              <a:rPr lang="en-US" sz="1100" dirty="0">
                <a:hlinkClick r:id="rId14"/>
              </a:rPr>
              <a:t>https://www.youtube.com/watch?v=wdgULBpRoXk</a:t>
            </a:r>
            <a:r>
              <a:rPr lang="en-US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en-US" sz="1100" dirty="0" err="1"/>
              <a:t>Robonyx</a:t>
            </a:r>
            <a:r>
              <a:rPr lang="en-US" sz="1100" dirty="0"/>
              <a:t>. (2024, March 12). Arduino To ESP32: How to Get Started! (</a:t>
            </a:r>
            <a:r>
              <a:rPr lang="en-US" sz="1100" dirty="0">
                <a:hlinkClick r:id="rId15"/>
              </a:rPr>
              <a:t>https://www.youtube.com/watch?v=RiYnucfy_rs</a:t>
            </a:r>
            <a:r>
              <a:rPr lang="en-US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en-US" sz="1100" dirty="0"/>
              <a:t>Electronics, S. (2022, June 25). How To Turn An Arduino Into A USB Keyboard Or Mouse! | ATMega32U4. (</a:t>
            </a:r>
            <a:r>
              <a:rPr lang="en-US" sz="1100" dirty="0">
                <a:hlinkClick r:id="rId16"/>
              </a:rPr>
              <a:t>https://www.youtube.com/watch?v=yTc2GLXfCOY</a:t>
            </a:r>
            <a:r>
              <a:rPr lang="en-US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en-US" sz="1100" dirty="0"/>
              <a:t>Systems, E. (2025). </a:t>
            </a:r>
            <a:r>
              <a:rPr lang="en-US" sz="1100" dirty="0" err="1"/>
              <a:t>DevKits</a:t>
            </a:r>
            <a:r>
              <a:rPr lang="en-US" sz="1100" dirty="0"/>
              <a:t> ESP32 Series. (</a:t>
            </a:r>
            <a:r>
              <a:rPr lang="en-US" sz="1100" dirty="0">
                <a:hlinkClick r:id="rId17"/>
              </a:rPr>
              <a:t>https://www.espressif.com/en/products/devKits</a:t>
            </a:r>
            <a:r>
              <a:rPr lang="en-US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en-US" sz="1100" dirty="0" err="1"/>
              <a:t>Tassesin</a:t>
            </a:r>
            <a:r>
              <a:rPr lang="en-US" sz="1100" dirty="0"/>
              <a:t>. (2025). 3D Printed Roller Bearing. (</a:t>
            </a:r>
            <a:r>
              <a:rPr lang="en-US" sz="1100" dirty="0">
                <a:hlinkClick r:id="rId18"/>
              </a:rPr>
              <a:t>https://makerworld.com/de/models/473167-608z-6000z-roller-bearing-v2?from=search#profileId-383170</a:t>
            </a:r>
            <a:r>
              <a:rPr lang="en-US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en-US" sz="1100" dirty="0"/>
              <a:t>Community, G. (2025). Godot 2D Tutorial Game. (</a:t>
            </a:r>
            <a:r>
              <a:rPr lang="en-US" sz="1100" dirty="0">
                <a:hlinkClick r:id="rId19"/>
              </a:rPr>
              <a:t>https://docs.godotengine.org/de/4.x/getting_started/first_2d_game/index.html</a:t>
            </a:r>
            <a:r>
              <a:rPr lang="en-US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en-US" sz="1100" dirty="0"/>
              <a:t>153armstrong. (2017, April 21). Exploring /dev/input (</a:t>
            </a:r>
            <a:r>
              <a:rPr lang="en-US" sz="1100" dirty="0">
                <a:hlinkClick r:id="rId20"/>
              </a:rPr>
              <a:t>https://thehackerdiary.wordpress.com/2017/04/21/exploring-devinput-1/</a:t>
            </a:r>
            <a:r>
              <a:rPr lang="en-US" sz="1100" dirty="0"/>
              <a:t>)</a:t>
            </a:r>
          </a:p>
          <a:p>
            <a:pPr marL="171450" indent="-171450" fontAlgn="base">
              <a:lnSpc>
                <a:spcPts val="1700"/>
              </a:lnSpc>
              <a:buFont typeface="Symbol" panose="05050102010706020507" pitchFamily="18" charset="2"/>
              <a:buChar char="-"/>
            </a:pPr>
            <a:r>
              <a:rPr lang="en-US" sz="1100" dirty="0" err="1"/>
              <a:t>JonathanC</a:t>
            </a:r>
            <a:r>
              <a:rPr lang="en-US" sz="1100" dirty="0"/>
              <a:t>. (2012, July 12). How do you read the mouse button state from /dev/input/mice? (</a:t>
            </a:r>
            <a:r>
              <a:rPr lang="en-US" sz="1100" dirty="0">
                <a:hlinkClick r:id="rId21"/>
              </a:rPr>
              <a:t>https://stackoverflow.com/questions/11451618/how-do-you-read-the-mouse-button-state-from-dev-input-mice</a:t>
            </a:r>
            <a:r>
              <a:rPr lang="en-US" sz="11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29837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6C6BA-99A1-43F4-92B8-B6D762EF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PM - Meilensteine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38338F-922C-40A7-B140-637B8277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5</a:t>
            </a:fld>
            <a:endParaRPr lang="de-AT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6B18A04F-4951-2C04-8359-5D0AD75A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/>
          <a:p>
            <a:r>
              <a:rPr lang="de-AT" dirty="0" err="1"/>
              <a:t>DigiKicker</a:t>
            </a:r>
            <a:r>
              <a:rPr lang="de-AT" dirty="0"/>
              <a:t> - </a:t>
            </a:r>
            <a:r>
              <a:rPr lang="de-AT" dirty="0" err="1"/>
              <a:t>Lanzmaier</a:t>
            </a:r>
            <a:r>
              <a:rPr lang="de-AT" dirty="0"/>
              <a:t>, Rath, Schaar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DE5779C-7624-178F-9FAC-AC80777685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46"/>
          <a:stretch>
            <a:fillRect/>
          </a:stretch>
        </p:blipFill>
        <p:spPr>
          <a:xfrm>
            <a:off x="163509" y="1152222"/>
            <a:ext cx="11864982" cy="4553555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49838B9E-1B19-6DA7-0A8E-C3B8BE388435}"/>
              </a:ext>
            </a:extLst>
          </p:cNvPr>
          <p:cNvSpPr/>
          <p:nvPr/>
        </p:nvSpPr>
        <p:spPr>
          <a:xfrm>
            <a:off x="161925" y="4743450"/>
            <a:ext cx="4943475" cy="1714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25704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3CE3A3-BF26-2099-4C84-8D0DDB9A6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dirty="0"/>
              <a:t>Ergebnisse bis dato – Teil 1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D2ABCCF-08EC-6917-DDEA-D1E153806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 err="1"/>
              <a:t>DigiKicker</a:t>
            </a:r>
            <a:r>
              <a:rPr lang="de-AT" dirty="0"/>
              <a:t> - </a:t>
            </a:r>
            <a:r>
              <a:rPr lang="de-AT" dirty="0" err="1"/>
              <a:t>Lanzmaier</a:t>
            </a:r>
            <a:r>
              <a:rPr lang="de-AT" dirty="0"/>
              <a:t>, Rath, Schaar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3C7777E-D48B-F92B-A763-EB221ACA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6</a:t>
            </a:fld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76E32A-90F5-E5D7-0AB9-93BDB4D81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948" y="976539"/>
            <a:ext cx="10972800" cy="5290911"/>
          </a:xfrm>
        </p:spPr>
        <p:txBody>
          <a:bodyPr>
            <a:normAutofit/>
          </a:bodyPr>
          <a:lstStyle/>
          <a:p>
            <a:r>
              <a:rPr lang="de-AT" dirty="0"/>
              <a:t>Schaar</a:t>
            </a:r>
          </a:p>
        </p:txBody>
      </p:sp>
      <p:pic>
        <p:nvPicPr>
          <p:cNvPr id="10" name="Grafik 9" descr="Ein Bild, das Screenshot, Entwurf, Design enthält.&#10;&#10;KI-generierte Inhalte können fehlerhaft sein.">
            <a:extLst>
              <a:ext uri="{FF2B5EF4-FFF2-40B4-BE49-F238E27FC236}">
                <a16:creationId xmlns:a16="http://schemas.microsoft.com/office/drawing/2014/main" id="{E17EACFE-358C-314D-4065-CA9052A8F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48" y="1707380"/>
            <a:ext cx="4416797" cy="2984648"/>
          </a:xfrm>
          <a:prstGeom prst="rect">
            <a:avLst/>
          </a:prstGeom>
        </p:spPr>
      </p:pic>
      <p:pic>
        <p:nvPicPr>
          <p:cNvPr id="12" name="Grafik 11" descr="Ein Bild, das Im Haus, Computer, Computermonitor, Büroausstattung enthält.&#10;&#10;KI-generierte Inhalte können fehlerhaft sein.">
            <a:extLst>
              <a:ext uri="{FF2B5EF4-FFF2-40B4-BE49-F238E27FC236}">
                <a16:creationId xmlns:a16="http://schemas.microsoft.com/office/drawing/2014/main" id="{5CA02367-1B96-D4D4-9E8A-EC22669944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618" y="1108020"/>
            <a:ext cx="3351964" cy="2513973"/>
          </a:xfrm>
          <a:prstGeom prst="rect">
            <a:avLst/>
          </a:prstGeom>
        </p:spPr>
      </p:pic>
      <p:pic>
        <p:nvPicPr>
          <p:cNvPr id="14" name="Grafik 13" descr="Ein Bild, das Kabel, Elektronik, Computer, Elektrische Leitungen enthält.&#10;&#10;KI-generierte Inhalte können fehlerhaft sein.">
            <a:extLst>
              <a:ext uri="{FF2B5EF4-FFF2-40B4-BE49-F238E27FC236}">
                <a16:creationId xmlns:a16="http://schemas.microsoft.com/office/drawing/2014/main" id="{7611F0E8-C370-B2B3-A0E6-A668A1CAAE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192" y="3710896"/>
            <a:ext cx="4146184" cy="2335314"/>
          </a:xfrm>
          <a:prstGeom prst="rect">
            <a:avLst/>
          </a:prstGeom>
        </p:spPr>
      </p:pic>
      <p:sp>
        <p:nvSpPr>
          <p:cNvPr id="19" name="Pfeil: nach rechts 18">
            <a:extLst>
              <a:ext uri="{FF2B5EF4-FFF2-40B4-BE49-F238E27FC236}">
                <a16:creationId xmlns:a16="http://schemas.microsoft.com/office/drawing/2014/main" id="{EA87C4D9-4EC2-5EB6-A32E-DDBDCB62EFA8}"/>
              </a:ext>
            </a:extLst>
          </p:cNvPr>
          <p:cNvSpPr/>
          <p:nvPr/>
        </p:nvSpPr>
        <p:spPr>
          <a:xfrm>
            <a:off x="5207620" y="2743200"/>
            <a:ext cx="1393902" cy="1449659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1A7150E6-44A2-4B4F-C2B9-535FD76FED75}"/>
              </a:ext>
            </a:extLst>
          </p:cNvPr>
          <p:cNvSpPr txBox="1"/>
          <p:nvPr/>
        </p:nvSpPr>
        <p:spPr>
          <a:xfrm>
            <a:off x="617948" y="4772722"/>
            <a:ext cx="4416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>
                <a:latin typeface="+mj-lt"/>
              </a:rPr>
              <a:t>CAD-Prototyp</a:t>
            </a:r>
            <a:endParaRPr lang="de-AT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95514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175AA-01F9-4F41-570A-82E8698C6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B1E17F-5BFB-74DB-AAD9-DFAA36B65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dirty="0"/>
              <a:t>Ergebnisse bis dato – Teil 2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42AC1F3-CDA1-22BF-C7CF-5B024C326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 err="1"/>
              <a:t>DigiKicker</a:t>
            </a:r>
            <a:r>
              <a:rPr lang="de-AT" dirty="0"/>
              <a:t> - </a:t>
            </a:r>
            <a:r>
              <a:rPr lang="de-AT" dirty="0" err="1"/>
              <a:t>Lanzmaier</a:t>
            </a:r>
            <a:r>
              <a:rPr lang="de-AT" dirty="0"/>
              <a:t>, Rath, Schaar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4D8C95-1B30-BDF9-1131-D99ACC166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7</a:t>
            </a:fld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BEB467-9BCF-3FD9-8985-5D5A7498C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948" y="976539"/>
            <a:ext cx="10972800" cy="5290911"/>
          </a:xfrm>
        </p:spPr>
        <p:txBody>
          <a:bodyPr>
            <a:normAutofit/>
          </a:bodyPr>
          <a:lstStyle/>
          <a:p>
            <a:r>
              <a:rPr lang="de-AT" dirty="0"/>
              <a:t>Aufgabenstellung</a:t>
            </a:r>
          </a:p>
          <a:p>
            <a:pPr lvl="1"/>
            <a:r>
              <a:rPr lang="de-DE" dirty="0"/>
              <a:t>Controller</a:t>
            </a:r>
          </a:p>
          <a:p>
            <a:pPr lvl="2"/>
            <a:r>
              <a:rPr lang="de-DE" dirty="0"/>
              <a:t>Hardwaredesign (Hülle, Elektronik)</a:t>
            </a:r>
          </a:p>
          <a:p>
            <a:pPr lvl="2"/>
            <a:r>
              <a:rPr lang="de-DE" dirty="0"/>
              <a:t>Schnittstellenentwicklung</a:t>
            </a:r>
          </a:p>
          <a:p>
            <a:pPr lvl="1"/>
            <a:r>
              <a:rPr lang="de-DE" dirty="0"/>
              <a:t>Simulation</a:t>
            </a:r>
          </a:p>
          <a:p>
            <a:pPr lvl="2"/>
            <a:r>
              <a:rPr lang="de-DE" dirty="0"/>
              <a:t>Entwicklung von spielbarem, stilisierten Abbild</a:t>
            </a:r>
          </a:p>
          <a:p>
            <a:pPr lvl="2"/>
            <a:r>
              <a:rPr lang="de-DE" dirty="0"/>
              <a:t>Multiplayer-Modus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480856128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5F8F8BE0F772449AA3E28E2051A517F" ma:contentTypeVersion="0" ma:contentTypeDescription="Ein neues Dokument erstellen." ma:contentTypeScope="" ma:versionID="0d260f8c1711e932026baa77adf3512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0627edd4f09c1f414843cf0643fb7b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B09AE3-FA1D-40C8-A6CE-A2D9F55131C8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elements/1.1/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62B322D-2084-418A-8960-B074ADC5B6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C214F1-4297-4767-8275-0DA039616A9F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868</Words>
  <Application>Microsoft Office PowerPoint</Application>
  <PresentationFormat>Breitbild</PresentationFormat>
  <Paragraphs>69</Paragraphs>
  <Slides>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Adobe Gothic Std B</vt:lpstr>
      <vt:lpstr>Arial</vt:lpstr>
      <vt:lpstr>Calibri</vt:lpstr>
      <vt:lpstr>Symbol</vt:lpstr>
      <vt:lpstr>Larissa</vt:lpstr>
      <vt:lpstr>PowerPoint-Präsentation</vt:lpstr>
      <vt:lpstr>Aufgabenstellung</vt:lpstr>
      <vt:lpstr>Bisherige Probleme &amp; Lösungen</vt:lpstr>
      <vt:lpstr>Literatur</vt:lpstr>
      <vt:lpstr>PM - Meilensteine</vt:lpstr>
      <vt:lpstr>Ergebnisse bis dato – Teil 1</vt:lpstr>
      <vt:lpstr>Ergebnisse bis dato – Teil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alexandra</dc:creator>
  <cp:lastModifiedBy>Schaar Nikita</cp:lastModifiedBy>
  <cp:revision>350</cp:revision>
  <cp:lastPrinted>2020-04-02T17:36:48Z</cp:lastPrinted>
  <dcterms:created xsi:type="dcterms:W3CDTF">2012-09-14T17:11:23Z</dcterms:created>
  <dcterms:modified xsi:type="dcterms:W3CDTF">2025-11-08T16:44:04Z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0x010100B5F8F8BE0F772449AA3E28E2051A517F</vt:lpwstr>
  </property>
</Properties>
</file>