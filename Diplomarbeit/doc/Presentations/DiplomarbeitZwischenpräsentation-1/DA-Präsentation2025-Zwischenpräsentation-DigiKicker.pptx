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82" r:id="rId6"/>
    <p:sldId id="2583" r:id="rId7"/>
    <p:sldId id="2584" r:id="rId8"/>
    <p:sldId id="2588" r:id="rId9"/>
    <p:sldId id="2590" r:id="rId10"/>
    <p:sldId id="2591" r:id="rId11"/>
    <p:sldId id="2585" r:id="rId12"/>
    <p:sldId id="2592" r:id="rId13"/>
    <p:sldId id="2594" r:id="rId14"/>
    <p:sldId id="2593" r:id="rId15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11.11.2025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11.11.2025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324BE-4751-3562-D193-FCFBBB40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6F5319E-0A25-CF2C-8EBE-717891387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BDE7E94-F413-9076-F818-0DEE0920A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C3D54E-136A-F083-9082-9EA72AA543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25928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11.11.2025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11.11.2025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11.11.2025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11.11.2025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11.11.2025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t-aRlwLI-b0" TargetMode="External"/><Relationship Id="rId13" Type="http://schemas.openxmlformats.org/officeDocument/2006/relationships/hyperlink" Target="https://www.youtube.com/watch?v=dKRbTwEVEsQ" TargetMode="External"/><Relationship Id="rId18" Type="http://schemas.openxmlformats.org/officeDocument/2006/relationships/hyperlink" Target="https://makerworld.com/de/models/473167-608z-6000z-roller-bearing-v2?from=search#profileId-383170" TargetMode="External"/><Relationship Id="rId3" Type="http://schemas.openxmlformats.org/officeDocument/2006/relationships/hyperlink" Target="https://godotengine.org/" TargetMode="External"/><Relationship Id="rId21" Type="http://schemas.openxmlformats.org/officeDocument/2006/relationships/hyperlink" Target="https://stackoverflow.com/questions/11451618/how-do-you-read-the-mouse-button-state-from-dev-input-mice" TargetMode="External"/><Relationship Id="rId7" Type="http://schemas.openxmlformats.org/officeDocument/2006/relationships/hyperlink" Target="https://www.youtube.com/watch?v=GTrekHE8A00" TargetMode="External"/><Relationship Id="rId12" Type="http://schemas.openxmlformats.org/officeDocument/2006/relationships/hyperlink" Target="https://www.youtube.com/watch?v=M6Z07b28U9c" TargetMode="External"/><Relationship Id="rId17" Type="http://schemas.openxmlformats.org/officeDocument/2006/relationships/hyperlink" Target="https://www.espressif.com/en/products/devKits" TargetMode="External"/><Relationship Id="rId2" Type="http://schemas.openxmlformats.org/officeDocument/2006/relationships/hyperlink" Target="https://www.youtube.com/watch?v=tKY_Cx38OAM" TargetMode="External"/><Relationship Id="rId16" Type="http://schemas.openxmlformats.org/officeDocument/2006/relationships/hyperlink" Target="https://www.youtube.com/watch?v=yTc2GLXfCOY" TargetMode="External"/><Relationship Id="rId20" Type="http://schemas.openxmlformats.org/officeDocument/2006/relationships/hyperlink" Target="https://thehackerdiary.wordpress.com/2017/04/21/exploring-devinput-1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juGNPLdjLH4" TargetMode="External"/><Relationship Id="rId11" Type="http://schemas.openxmlformats.org/officeDocument/2006/relationships/hyperlink" Target="https://www.youtube.com/watch?v=Qn0KQecUMqM" TargetMode="External"/><Relationship Id="rId5" Type="http://schemas.openxmlformats.org/officeDocument/2006/relationships/hyperlink" Target="https://www.youtube.com/watch?v=HbQ6q3skZgw" TargetMode="External"/><Relationship Id="rId15" Type="http://schemas.openxmlformats.org/officeDocument/2006/relationships/hyperlink" Target="https://www.youtube.com/watch?v=RiYnucfy_rs" TargetMode="External"/><Relationship Id="rId10" Type="http://schemas.openxmlformats.org/officeDocument/2006/relationships/hyperlink" Target="https://www.youtube.com/watch?v=lMM8fA-oSI8" TargetMode="External"/><Relationship Id="rId19" Type="http://schemas.openxmlformats.org/officeDocument/2006/relationships/hyperlink" Target="https://docs.godotengine.org/de/4.x/getting_started/first_2d_game/index.html" TargetMode="External"/><Relationship Id="rId4" Type="http://schemas.openxmlformats.org/officeDocument/2006/relationships/hyperlink" Target="https://www.youtube.com/watch?v=Yuu2jnMjt7k" TargetMode="External"/><Relationship Id="rId9" Type="http://schemas.openxmlformats.org/officeDocument/2006/relationships/hyperlink" Target="https://www.youtube.com/watch?v=D0WquihUdek" TargetMode="External"/><Relationship Id="rId14" Type="http://schemas.openxmlformats.org/officeDocument/2006/relationships/hyperlink" Target="https://www.youtube.com/watch?v=wdgULBpRoX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Fußball, Ball, Kreis, Design enthält.">
            <a:extLst>
              <a:ext uri="{FF2B5EF4-FFF2-40B4-BE49-F238E27FC236}">
                <a16:creationId xmlns:a16="http://schemas.microsoft.com/office/drawing/2014/main" id="{405F5207-B391-D8DA-757D-EF4E8F74F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5599" r="7060" b="7334"/>
          <a:stretch>
            <a:fillRect/>
          </a:stretch>
        </p:blipFill>
        <p:spPr>
          <a:xfrm>
            <a:off x="795528" y="1593490"/>
            <a:ext cx="4221924" cy="4191657"/>
          </a:xfrm>
          <a:prstGeom prst="rect">
            <a:avLst/>
          </a:prstGeom>
        </p:spPr>
      </p:pic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5465508" y="2767584"/>
            <a:ext cx="5800312" cy="1015663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 err="1">
                <a:solidFill>
                  <a:srgbClr val="9BBB59"/>
                </a:solidFill>
              </a:rPr>
              <a:t>DigiKicker</a:t>
            </a:r>
            <a:r>
              <a:rPr lang="de-AT" sz="3200" b="1" dirty="0">
                <a:solidFill>
                  <a:srgbClr val="9BBB59"/>
                </a:solidFill>
              </a:rPr>
              <a:t> – Digitalisierung eines Tischfußballtisches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3901393"/>
            <a:ext cx="63738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Luan Lanzmaier</a:t>
            </a:r>
          </a:p>
          <a:p>
            <a:pPr algn="r"/>
            <a:r>
              <a:rPr lang="nl-NL" sz="2000" dirty="0"/>
              <a:t>André Rath</a:t>
            </a:r>
          </a:p>
          <a:p>
            <a:pPr algn="r"/>
            <a:r>
              <a:rPr lang="nl-NL" sz="2000" dirty="0"/>
              <a:t>Nikita Schaar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4900341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11.11.2025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339355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Günther Hutter,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69197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Aufgabenstellungen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7948" y="976539"/>
            <a:ext cx="10972800" cy="5290911"/>
          </a:xfrm>
        </p:spPr>
        <p:txBody>
          <a:bodyPr>
            <a:normAutofit/>
          </a:bodyPr>
          <a:lstStyle/>
          <a:p>
            <a:r>
              <a:rPr lang="de-AT" dirty="0"/>
              <a:t>Aufgabenstellungen</a:t>
            </a:r>
          </a:p>
          <a:p>
            <a:pPr lvl="1"/>
            <a:r>
              <a:rPr lang="de-DE" dirty="0"/>
              <a:t>Schaar</a:t>
            </a:r>
          </a:p>
          <a:p>
            <a:pPr lvl="2"/>
            <a:r>
              <a:rPr lang="de-DE" dirty="0"/>
              <a:t>Hardwaredesign (Hülle, Elektronik)</a:t>
            </a:r>
          </a:p>
          <a:p>
            <a:pPr lvl="2"/>
            <a:r>
              <a:rPr lang="de-DE" dirty="0"/>
              <a:t>Schnittstellenentwicklung</a:t>
            </a:r>
          </a:p>
          <a:p>
            <a:pPr lvl="1"/>
            <a:r>
              <a:rPr lang="de-DE" dirty="0"/>
              <a:t>Rath</a:t>
            </a:r>
          </a:p>
          <a:p>
            <a:pPr lvl="2"/>
            <a:r>
              <a:rPr lang="de-DE" dirty="0"/>
              <a:t>Entwicklung von spielbarem Abbild</a:t>
            </a:r>
          </a:p>
          <a:p>
            <a:pPr lvl="2"/>
            <a:r>
              <a:rPr lang="de-DE" dirty="0"/>
              <a:t>Training und Erstellung von Gegner-KI</a:t>
            </a:r>
          </a:p>
          <a:p>
            <a:pPr lvl="1"/>
            <a:r>
              <a:rPr lang="de-DE" dirty="0" err="1"/>
              <a:t>Lanzmaier</a:t>
            </a:r>
            <a:endParaRPr lang="de-DE" dirty="0"/>
          </a:p>
          <a:p>
            <a:pPr lvl="2"/>
            <a:r>
              <a:rPr lang="de-DE" dirty="0"/>
              <a:t>Multiplayer-Modus (Server-Client-Verbindungsmodell)</a:t>
            </a:r>
          </a:p>
          <a:p>
            <a:pPr lvl="2"/>
            <a:r>
              <a:rPr lang="de-DE" dirty="0"/>
              <a:t>Asset-Design (3D-Modellierung, HUD-Elemente)</a:t>
            </a:r>
          </a:p>
          <a:p>
            <a:pPr lvl="2"/>
            <a:endParaRPr lang="de-DE" dirty="0"/>
          </a:p>
          <a:p>
            <a:pPr lvl="2"/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Bisherige Probleme &amp; Lösungen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Schaar</a:t>
            </a:r>
          </a:p>
          <a:p>
            <a:pPr lvl="1"/>
            <a:r>
              <a:rPr lang="de-DE" dirty="0"/>
              <a:t>Keine simplen Formen, sowie Fehler beim Design des ersten CAD-Controller-Prototypen (Stromversorgung beeinträchtigt)</a:t>
            </a:r>
          </a:p>
          <a:p>
            <a:pPr lvl="1"/>
            <a:r>
              <a:rPr lang="de-DE" dirty="0"/>
              <a:t>Überarbeitung des Modells durch u. a. Simplifizierung gewisser Formen (Zuerst zu komplexe Geometrie an den Außenwänden)</a:t>
            </a:r>
          </a:p>
          <a:p>
            <a:r>
              <a:rPr lang="de-DE" dirty="0" err="1"/>
              <a:t>Lanzmaier</a:t>
            </a:r>
            <a:endParaRPr lang="de-AT" dirty="0"/>
          </a:p>
          <a:p>
            <a:pPr lvl="1"/>
            <a:r>
              <a:rPr lang="de-AT" dirty="0"/>
              <a:t>Polygon-Komplexität bei Modellierung der Game-Assets zu hoch (Führt zur Beeinträchtigung der Real-Time-Bewegungen)</a:t>
            </a:r>
          </a:p>
          <a:p>
            <a:pPr lvl="1"/>
            <a:r>
              <a:rPr lang="de-AT" dirty="0"/>
              <a:t>Anzahl der Polygone durch verschiedene Techniken, sowie gewisse visuelle Tricks verringert, ohne die Qualität der Modelle zu beeinträchtigen.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06F8D842-2905-04CE-5FF8-3EFFBC74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</p:spTree>
    <p:extLst>
      <p:ext uri="{BB962C8B-B14F-4D97-AF65-F5344CB8AC3E}">
        <p14:creationId xmlns:p14="http://schemas.microsoft.com/office/powerpoint/2010/main" val="39256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9361"/>
          </a:xfrm>
        </p:spPr>
        <p:txBody>
          <a:bodyPr>
            <a:normAutofit lnSpcReduction="10000"/>
          </a:bodyPr>
          <a:lstStyle/>
          <a:p>
            <a:r>
              <a:rPr lang="de-DE" dirty="0"/>
              <a:t>Bis dato durchgesehen:</a:t>
            </a:r>
            <a:endParaRPr lang="de-AT" dirty="0"/>
          </a:p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F50B05A9-A499-92BD-9C74-876D77B1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D9A4120-146A-AD27-2641-92546FA6DAAD}"/>
              </a:ext>
            </a:extLst>
          </p:cNvPr>
          <p:cNvSpPr txBox="1"/>
          <p:nvPr/>
        </p:nvSpPr>
        <p:spPr>
          <a:xfrm>
            <a:off x="609600" y="1563244"/>
            <a:ext cx="5486400" cy="421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Harpooner</a:t>
            </a:r>
            <a:r>
              <a:rPr lang="de-AT" sz="1100" dirty="0"/>
              <a:t>, B. (2018, September 9). </a:t>
            </a:r>
            <a:r>
              <a:rPr lang="de-AT" sz="1100" dirty="0" err="1"/>
              <a:t>Choosing</a:t>
            </a:r>
            <a:r>
              <a:rPr lang="de-AT" sz="1100" dirty="0"/>
              <a:t> a game </a:t>
            </a:r>
            <a:r>
              <a:rPr lang="de-AT" sz="1100" dirty="0" err="1"/>
              <a:t>engine</a:t>
            </a:r>
            <a:r>
              <a:rPr lang="de-AT" sz="1100" dirty="0"/>
              <a:t> - Unity, Unreal Engine, Godot (Making </a:t>
            </a:r>
            <a:r>
              <a:rPr lang="de-AT" sz="1100" dirty="0" err="1"/>
              <a:t>Cyberglads</a:t>
            </a:r>
            <a:r>
              <a:rPr lang="de-AT" sz="1100" dirty="0"/>
              <a:t> 1). (</a:t>
            </a:r>
            <a:r>
              <a:rPr lang="de-AT" sz="1100" dirty="0">
                <a:hlinkClick r:id="rId2"/>
              </a:rPr>
              <a:t>https://www.youtube.com/watch?v=tKY_Cx38OAM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Linietsky</a:t>
            </a:r>
            <a:r>
              <a:rPr lang="de-AT" sz="1100" dirty="0"/>
              <a:t>, J., &amp; </a:t>
            </a:r>
            <a:r>
              <a:rPr lang="de-AT" sz="1100" dirty="0" err="1"/>
              <a:t>Manzur</a:t>
            </a:r>
            <a:r>
              <a:rPr lang="de-AT" sz="1100" dirty="0"/>
              <a:t>, A. (2025). Godot Engine. (</a:t>
            </a:r>
            <a:r>
              <a:rPr lang="de-AT" sz="1100" dirty="0">
                <a:hlinkClick r:id="rId3"/>
              </a:rPr>
              <a:t>https://godotengine.org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Sagor</a:t>
            </a:r>
            <a:r>
              <a:rPr lang="de-AT" sz="1100" dirty="0"/>
              <a:t>, H. (2022, November 3). </a:t>
            </a:r>
            <a:r>
              <a:rPr lang="de-AT" sz="1100" dirty="0" err="1"/>
              <a:t>How</a:t>
            </a:r>
            <a:r>
              <a:rPr lang="de-AT" sz="1100" dirty="0"/>
              <a:t> </a:t>
            </a:r>
            <a:r>
              <a:rPr lang="de-AT" sz="1100" dirty="0" err="1"/>
              <a:t>To</a:t>
            </a:r>
            <a:r>
              <a:rPr lang="de-AT" sz="1100" dirty="0"/>
              <a:t> Draw a Football (Soccer Ball) In Illustrator | Adobe Illustrator CC Tutorial. (</a:t>
            </a:r>
            <a:r>
              <a:rPr lang="de-AT" sz="1100" dirty="0">
                <a:hlinkClick r:id="rId4"/>
              </a:rPr>
              <a:t>https://www.youtube.com/watch?v=Yuu2jnMjt7k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Lab, S. (2023). Add USB </a:t>
            </a:r>
            <a:r>
              <a:rPr lang="de-AT" sz="1100" dirty="0" err="1"/>
              <a:t>To</a:t>
            </a:r>
            <a:r>
              <a:rPr lang="de-AT" sz="1100" dirty="0"/>
              <a:t> </a:t>
            </a:r>
            <a:r>
              <a:rPr lang="de-AT" sz="1100" dirty="0" err="1"/>
              <a:t>Your</a:t>
            </a:r>
            <a:r>
              <a:rPr lang="de-AT" sz="1100" dirty="0"/>
              <a:t> Electronics Projects! - The USB Protocol </a:t>
            </a:r>
            <a:r>
              <a:rPr lang="de-AT" sz="1100" dirty="0" err="1"/>
              <a:t>Explained</a:t>
            </a:r>
            <a:r>
              <a:rPr lang="de-AT" sz="1100" dirty="0"/>
              <a:t>. (</a:t>
            </a:r>
            <a:r>
              <a:rPr lang="de-AT" sz="1100" dirty="0">
                <a:hlinkClick r:id="rId5"/>
              </a:rPr>
              <a:t>https://www.youtube.com/watch?v=HbQ6q3skZgw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LiveOverflow</a:t>
            </a:r>
            <a:r>
              <a:rPr lang="de-AT" sz="1100" dirty="0"/>
              <a:t>. (2019, </a:t>
            </a:r>
            <a:r>
              <a:rPr lang="de-AT" sz="1100" dirty="0" err="1"/>
              <a:t>December</a:t>
            </a:r>
            <a:r>
              <a:rPr lang="de-AT" sz="1100" dirty="0"/>
              <a:t> 12). </a:t>
            </a:r>
            <a:r>
              <a:rPr lang="de-AT" sz="1100" dirty="0" err="1"/>
              <a:t>How</a:t>
            </a:r>
            <a:r>
              <a:rPr lang="de-AT" sz="1100" dirty="0"/>
              <a:t> Do Linux Kernel Drivers Work? - Learning Resource. (</a:t>
            </a:r>
            <a:r>
              <a:rPr lang="de-AT" sz="1100" dirty="0">
                <a:hlinkClick r:id="rId6"/>
              </a:rPr>
              <a:t>https://www.youtube.com/watch?v=juGNPLdjLH4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Lichtman</a:t>
            </a:r>
            <a:r>
              <a:rPr lang="de-AT" sz="1100" dirty="0"/>
              <a:t>, N. (2023, </a:t>
            </a:r>
            <a:r>
              <a:rPr lang="de-AT" sz="1100" dirty="0" err="1"/>
              <a:t>December</a:t>
            </a:r>
            <a:r>
              <a:rPr lang="de-AT" sz="1100" dirty="0"/>
              <a:t> 2). Making Simple Windows Driver in C. (</a:t>
            </a:r>
            <a:r>
              <a:rPr lang="de-AT" sz="1100" dirty="0">
                <a:hlinkClick r:id="rId7"/>
              </a:rPr>
              <a:t>https://www.youtube.com/watch?v=GTrekHE8A00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Techquickie</a:t>
            </a:r>
            <a:r>
              <a:rPr lang="de-AT" sz="1100" dirty="0"/>
              <a:t>. (2014, April 16). </a:t>
            </a:r>
            <a:r>
              <a:rPr lang="de-AT" sz="1100" dirty="0" err="1"/>
              <a:t>What</a:t>
            </a:r>
            <a:r>
              <a:rPr lang="de-AT" sz="1100" dirty="0"/>
              <a:t> </a:t>
            </a:r>
            <a:r>
              <a:rPr lang="de-AT" sz="1100" dirty="0" err="1"/>
              <a:t>is</a:t>
            </a:r>
            <a:r>
              <a:rPr lang="de-AT" sz="1100" dirty="0"/>
              <a:t> a Software Driver </a:t>
            </a:r>
            <a:r>
              <a:rPr lang="de-AT" sz="1100" dirty="0" err="1"/>
              <a:t>as</a:t>
            </a:r>
            <a:r>
              <a:rPr lang="de-AT" sz="1100" dirty="0"/>
              <a:t> Fast As Possible. (</a:t>
            </a:r>
            <a:r>
              <a:rPr lang="de-AT" sz="1100" dirty="0">
                <a:hlinkClick r:id="rId8"/>
              </a:rPr>
              <a:t>https://www.youtube.com/watch?v=t-aRlwLI-b0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de </a:t>
            </a:r>
            <a:r>
              <a:rPr lang="de-AT" sz="1100" dirty="0" err="1"/>
              <a:t>Vinck</a:t>
            </a:r>
            <a:r>
              <a:rPr lang="de-AT" sz="1100" dirty="0"/>
              <a:t>, M. (2019b, August 25). Arduino </a:t>
            </a:r>
            <a:r>
              <a:rPr lang="de-AT" sz="1100" dirty="0" err="1"/>
              <a:t>Prototyping</a:t>
            </a:r>
            <a:r>
              <a:rPr lang="de-AT" sz="1100" dirty="0"/>
              <a:t> Inputs #54: IR </a:t>
            </a:r>
            <a:r>
              <a:rPr lang="de-AT" sz="1100" dirty="0" err="1"/>
              <a:t>Proximity</a:t>
            </a:r>
            <a:r>
              <a:rPr lang="de-AT" sz="1100" dirty="0"/>
              <a:t> Sensors. (</a:t>
            </a:r>
            <a:r>
              <a:rPr lang="de-AT" sz="1100" dirty="0">
                <a:hlinkClick r:id="rId9"/>
              </a:rPr>
              <a:t>https://www.youtube.com/watch?v=D0WquihUdek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de </a:t>
            </a:r>
            <a:r>
              <a:rPr lang="de-AT" sz="1100" dirty="0" err="1"/>
              <a:t>Vinck</a:t>
            </a:r>
            <a:r>
              <a:rPr lang="de-AT" sz="1100" dirty="0"/>
              <a:t>, M. (2019a, August 24). Arduino </a:t>
            </a:r>
            <a:r>
              <a:rPr lang="de-AT" sz="1100" dirty="0" err="1"/>
              <a:t>Prototyping</a:t>
            </a:r>
            <a:r>
              <a:rPr lang="de-AT" sz="1100" dirty="0"/>
              <a:t> Inputs #53: Rotary Encoders. (</a:t>
            </a:r>
            <a:r>
              <a:rPr lang="de-AT" sz="1100" dirty="0">
                <a:hlinkClick r:id="rId10"/>
              </a:rPr>
              <a:t>https://www.youtube.com/watch?v=lMM8fA-oSI8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de </a:t>
            </a:r>
            <a:r>
              <a:rPr lang="de-AT" sz="1100" dirty="0" err="1"/>
              <a:t>Vinck</a:t>
            </a:r>
            <a:r>
              <a:rPr lang="de-AT" sz="1100" dirty="0"/>
              <a:t>, M. (2019d, September 29). Arduino </a:t>
            </a:r>
            <a:r>
              <a:rPr lang="de-AT" sz="1100" dirty="0" err="1"/>
              <a:t>Prototyping</a:t>
            </a:r>
            <a:r>
              <a:rPr lang="de-AT" sz="1100" dirty="0"/>
              <a:t> Outputs #86: </a:t>
            </a:r>
            <a:r>
              <a:rPr lang="de-AT" sz="1100" dirty="0" err="1"/>
              <a:t>Continuous</a:t>
            </a:r>
            <a:r>
              <a:rPr lang="de-AT" sz="1100" dirty="0"/>
              <a:t> Rotation Servos. (</a:t>
            </a:r>
            <a:r>
              <a:rPr lang="de-AT" sz="1100" dirty="0">
                <a:hlinkClick r:id="rId11"/>
              </a:rPr>
              <a:t>https://www.youtube.com/watch?v=Qn0KQecUMqM</a:t>
            </a:r>
            <a:r>
              <a:rPr lang="de-AT" sz="1100" dirty="0"/>
              <a:t>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89927AE-F512-6D1B-6CCC-E2DA3CC93410}"/>
              </a:ext>
            </a:extLst>
          </p:cNvPr>
          <p:cNvSpPr txBox="1"/>
          <p:nvPr/>
        </p:nvSpPr>
        <p:spPr>
          <a:xfrm>
            <a:off x="6096000" y="1563244"/>
            <a:ext cx="5486400" cy="4653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de </a:t>
            </a:r>
            <a:r>
              <a:rPr lang="de-AT" sz="1100" dirty="0" err="1"/>
              <a:t>Vinck</a:t>
            </a:r>
            <a:r>
              <a:rPr lang="de-AT" sz="1100" dirty="0"/>
              <a:t>, M. (2019c, September 25). Arduino </a:t>
            </a:r>
            <a:r>
              <a:rPr lang="de-AT" sz="1100" dirty="0" err="1"/>
              <a:t>Prototyping</a:t>
            </a:r>
            <a:r>
              <a:rPr lang="de-AT" sz="1100" dirty="0"/>
              <a:t> Outputs #82: Slip Rings. (</a:t>
            </a:r>
            <a:r>
              <a:rPr lang="de-AT" sz="1100" dirty="0">
                <a:hlinkClick r:id="rId12"/>
              </a:rPr>
              <a:t>https://www.youtube.com/watch?v=M6Z07b28U9c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Art, W. M. (2023, March 17). </a:t>
            </a:r>
            <a:r>
              <a:rPr lang="de-AT" sz="1100" dirty="0" err="1"/>
              <a:t>What</a:t>
            </a:r>
            <a:r>
              <a:rPr lang="de-AT" sz="1100" dirty="0"/>
              <a:t> </a:t>
            </a:r>
            <a:r>
              <a:rPr lang="de-AT" sz="1100" dirty="0" err="1"/>
              <a:t>is</a:t>
            </a:r>
            <a:r>
              <a:rPr lang="de-AT" sz="1100" dirty="0"/>
              <a:t> a </a:t>
            </a:r>
            <a:r>
              <a:rPr lang="de-AT" sz="1100" dirty="0" err="1"/>
              <a:t>slip</a:t>
            </a:r>
            <a:r>
              <a:rPr lang="de-AT" sz="1100" dirty="0"/>
              <a:t> ring? (</a:t>
            </a:r>
            <a:r>
              <a:rPr lang="de-AT" sz="1100" dirty="0">
                <a:hlinkClick r:id="rId13"/>
              </a:rPr>
              <a:t>https://www.youtube.com/watch?v=dKRbTwEVEsQ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Eater, B. (2021, June 5). How does a USB keyboard work? (</a:t>
            </a:r>
            <a:r>
              <a:rPr lang="en-US" sz="1100" dirty="0">
                <a:hlinkClick r:id="rId14"/>
              </a:rPr>
              <a:t>https://www.youtube.com/watch?v=wdgULBpRoXk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 err="1"/>
              <a:t>Robonyx</a:t>
            </a:r>
            <a:r>
              <a:rPr lang="en-US" sz="1100" dirty="0"/>
              <a:t>. (2024, March 12). Arduino To ESP32: How to Get Started! (</a:t>
            </a:r>
            <a:r>
              <a:rPr lang="en-US" sz="1100" dirty="0">
                <a:hlinkClick r:id="rId15"/>
              </a:rPr>
              <a:t>https://www.youtube.com/watch?v=RiYnucfy_rs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Electronics, S. (2022, June 25). How To Turn An Arduino Into A USB Keyboard Or Mouse! | ATMega32U4. (</a:t>
            </a:r>
            <a:r>
              <a:rPr lang="en-US" sz="1100" dirty="0">
                <a:hlinkClick r:id="rId16"/>
              </a:rPr>
              <a:t>https://www.youtube.com/watch?v=yTc2GLXfCOY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Systems, E. (2025). </a:t>
            </a:r>
            <a:r>
              <a:rPr lang="en-US" sz="1100" dirty="0" err="1"/>
              <a:t>DevKits</a:t>
            </a:r>
            <a:r>
              <a:rPr lang="en-US" sz="1100" dirty="0"/>
              <a:t> ESP32 Series. (</a:t>
            </a:r>
            <a:r>
              <a:rPr lang="en-US" sz="1100" dirty="0">
                <a:hlinkClick r:id="rId17"/>
              </a:rPr>
              <a:t>https://www.espressif.com/en/products/devKits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 err="1"/>
              <a:t>Tassesin</a:t>
            </a:r>
            <a:r>
              <a:rPr lang="en-US" sz="1100" dirty="0"/>
              <a:t>. (2025). 3D Printed Roller Bearing. (</a:t>
            </a:r>
            <a:r>
              <a:rPr lang="en-US" sz="1100" dirty="0">
                <a:hlinkClick r:id="rId18"/>
              </a:rPr>
              <a:t>https://makerworld.com/de/models/473167-608z-6000z-roller-bearing-v2?from=search#profileId-383170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Community, G. (2025). Godot 2D Tutorial Game. (</a:t>
            </a:r>
            <a:r>
              <a:rPr lang="en-US" sz="1100" dirty="0">
                <a:hlinkClick r:id="rId19"/>
              </a:rPr>
              <a:t>https://docs.godotengine.org/de/4.x/getting_started/first_2d_game/index.html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153armstrong. (2017, April 21). Exploring /dev/input (</a:t>
            </a:r>
            <a:r>
              <a:rPr lang="en-US" sz="1100" dirty="0">
                <a:hlinkClick r:id="rId20"/>
              </a:rPr>
              <a:t>https://thehackerdiary.wordpress.com/2017/04/21/exploring-devinput-1/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 err="1"/>
              <a:t>JonathanC</a:t>
            </a:r>
            <a:r>
              <a:rPr lang="en-US" sz="1100" dirty="0"/>
              <a:t>. (2012, July 12). How do you read the mouse button state from /dev/input/mice? (</a:t>
            </a:r>
            <a:r>
              <a:rPr lang="en-US" sz="1100" dirty="0">
                <a:hlinkClick r:id="rId21"/>
              </a:rPr>
              <a:t>https://stackoverflow.com/questions/11451618/how-do-you-read-the-mouse-button-state-from-dev-input-mice</a:t>
            </a:r>
            <a:r>
              <a:rPr lang="en-US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CE3A3-BF26-2099-4C84-8D0DDB9A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Ergebnisse bis dato – Schaar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2ABCCF-08EC-6917-DDEA-D1E15380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C7777E-D48B-F92B-A763-EB221ACA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A7150E6-44A2-4B4F-C2B9-535FD76FED75}"/>
              </a:ext>
            </a:extLst>
          </p:cNvPr>
          <p:cNvSpPr txBox="1"/>
          <p:nvPr/>
        </p:nvSpPr>
        <p:spPr>
          <a:xfrm>
            <a:off x="3895949" y="5474817"/>
            <a:ext cx="4416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CAD-Prototyp</a:t>
            </a:r>
            <a:endParaRPr lang="de-AT" sz="3200" b="1" dirty="0">
              <a:latin typeface="+mj-lt"/>
            </a:endParaRPr>
          </a:p>
        </p:txBody>
      </p:sp>
      <p:pic>
        <p:nvPicPr>
          <p:cNvPr id="10" name="Grafik 9" descr="Ein Bild, das Screenshot, Entwurf, Design enthält.&#10;&#10;KI-generierte Inhalte können fehlerhaft sein.">
            <a:extLst>
              <a:ext uri="{FF2B5EF4-FFF2-40B4-BE49-F238E27FC236}">
                <a16:creationId xmlns:a16="http://schemas.microsoft.com/office/drawing/2014/main" id="{E17EACFE-358C-314D-4065-CA9052A8F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069" y="1179604"/>
            <a:ext cx="6348935" cy="4290289"/>
          </a:xfrm>
          <a:prstGeom prst="rect">
            <a:avLst/>
          </a:prstGeom>
        </p:spPr>
      </p:pic>
      <p:pic>
        <p:nvPicPr>
          <p:cNvPr id="12" name="Grafik 11" descr="Ein Bild, das Im Haus, Computer, Computermonitor, Büroausstattung enthält.&#10;&#10;KI-generierte Inhalte können fehlerhaft sein.">
            <a:extLst>
              <a:ext uri="{FF2B5EF4-FFF2-40B4-BE49-F238E27FC236}">
                <a16:creationId xmlns:a16="http://schemas.microsoft.com/office/drawing/2014/main" id="{5CA02367-1B96-D4D4-9E8A-EC22669944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1" r="272" b="6204"/>
          <a:stretch>
            <a:fillRect/>
          </a:stretch>
        </p:blipFill>
        <p:spPr>
          <a:xfrm>
            <a:off x="223292" y="2058285"/>
            <a:ext cx="5683728" cy="3201327"/>
          </a:xfrm>
          <a:prstGeom prst="rect">
            <a:avLst/>
          </a:prstGeom>
        </p:spPr>
      </p:pic>
      <p:pic>
        <p:nvPicPr>
          <p:cNvPr id="14" name="Grafik 13" descr="Ein Bild, das Kabel, Elektronik, Computer, Elektrische Leitungen enthält.&#10;&#10;KI-generierte Inhalte können fehlerhaft sein.">
            <a:extLst>
              <a:ext uri="{FF2B5EF4-FFF2-40B4-BE49-F238E27FC236}">
                <a16:creationId xmlns:a16="http://schemas.microsoft.com/office/drawing/2014/main" id="{7611F0E8-C370-B2B3-A0E6-A668A1CAAE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980" y="2058284"/>
            <a:ext cx="5683728" cy="320132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CBC338B-BD13-B556-D14B-370D0F5BC57D}"/>
              </a:ext>
            </a:extLst>
          </p:cNvPr>
          <p:cNvSpPr txBox="1"/>
          <p:nvPr/>
        </p:nvSpPr>
        <p:spPr>
          <a:xfrm>
            <a:off x="3471094" y="5469893"/>
            <a:ext cx="526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Erster physischer Prototyp</a:t>
            </a:r>
            <a:endParaRPr lang="de-AT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551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75AA-01F9-4F41-570A-82E8698C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D768E76-23C6-AE3B-F7CC-3137DE58B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31" y="1313344"/>
            <a:ext cx="5275990" cy="39569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8B1E17F-5BFB-74DB-AAD9-DFAA36B6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Ergebnisse bis dato – Rath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2AC1F3-CDA1-22BF-C7CF-5B024C32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4D8C95-1B30-BDF9-1131-D99ACC16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  <p:pic>
        <p:nvPicPr>
          <p:cNvPr id="6" name="KITrainingGame">
            <a:hlinkClick r:id="" action="ppaction://media"/>
            <a:extLst>
              <a:ext uri="{FF2B5EF4-FFF2-40B4-BE49-F238E27FC236}">
                <a16:creationId xmlns:a16="http://schemas.microsoft.com/office/drawing/2014/main" id="{A7A1FB1B-7280-46C9-6D0A-B7A53F67C9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75920" y="1805785"/>
            <a:ext cx="5283749" cy="297210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9F05B5D-F2FA-DAE9-BE4C-75B284A9B8EA}"/>
              </a:ext>
            </a:extLst>
          </p:cNvPr>
          <p:cNvSpPr txBox="1"/>
          <p:nvPr/>
        </p:nvSpPr>
        <p:spPr>
          <a:xfrm>
            <a:off x="1327334" y="5469893"/>
            <a:ext cx="9554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Training der Gegner-KI mittels 2D-Game-Prototyp</a:t>
            </a:r>
            <a:endParaRPr lang="de-AT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085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61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22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1830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2440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8CCB-F8E7-5699-59FC-01710E0B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7FF23-FB45-F2DB-3A5E-1EC3E6E1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Ergebnisse bis dato – </a:t>
            </a:r>
            <a:r>
              <a:rPr lang="de-AT" dirty="0" err="1"/>
              <a:t>Lanzmaier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13E82-B7A4-E961-F784-14EB09FC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F7CA07-B1B9-2231-120C-5D3C0491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  <p:pic>
        <p:nvPicPr>
          <p:cNvPr id="7" name="Grafik 6" descr="Ein Bild, das Screenshot, Multimedia-Software, Text, Grafiksoftware enthält.&#10;&#10;KI-generierte Inhalte können fehlerhaft sein.">
            <a:extLst>
              <a:ext uri="{FF2B5EF4-FFF2-40B4-BE49-F238E27FC236}">
                <a16:creationId xmlns:a16="http://schemas.microsoft.com/office/drawing/2014/main" id="{47D7FFA7-5023-1104-15ED-5535106272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" y="1024128"/>
            <a:ext cx="7436104" cy="4182809"/>
          </a:xfrm>
          <a:prstGeom prst="rect">
            <a:avLst/>
          </a:prstGeom>
        </p:spPr>
      </p:pic>
      <p:pic>
        <p:nvPicPr>
          <p:cNvPr id="9" name="Grafik 8" descr="Ein Bild, das Screenshot, Multimedia-Software, Grafiksoftware, 3D-Modellierung enthält.&#10;&#10;KI-generierte Inhalte können fehlerhaft sein.">
            <a:extLst>
              <a:ext uri="{FF2B5EF4-FFF2-40B4-BE49-F238E27FC236}">
                <a16:creationId xmlns:a16="http://schemas.microsoft.com/office/drawing/2014/main" id="{E42CA883-6B06-4324-9DDB-3883A6FDD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6" t="8383" r="41923" b="12016"/>
          <a:stretch>
            <a:fillRect/>
          </a:stretch>
        </p:blipFill>
        <p:spPr>
          <a:xfrm>
            <a:off x="7725552" y="1024128"/>
            <a:ext cx="4271376" cy="518424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FBD5FF5-004B-3373-64BB-3EFFC66048EE}"/>
              </a:ext>
            </a:extLst>
          </p:cNvPr>
          <p:cNvSpPr txBox="1"/>
          <p:nvPr/>
        </p:nvSpPr>
        <p:spPr>
          <a:xfrm>
            <a:off x="291592" y="5489257"/>
            <a:ext cx="724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Blender-Modell einer Spielfigur</a:t>
            </a:r>
            <a:endParaRPr lang="de-AT" sz="3200" b="1" dirty="0">
              <a:latin typeface="+mj-lt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201EC3B-9984-9A7A-0D5B-5B366090CAE9}"/>
              </a:ext>
            </a:extLst>
          </p:cNvPr>
          <p:cNvSpPr txBox="1"/>
          <p:nvPr/>
        </p:nvSpPr>
        <p:spPr>
          <a:xfrm>
            <a:off x="2608580" y="5489256"/>
            <a:ext cx="724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Textur-Maps des Charakters</a:t>
            </a:r>
            <a:endParaRPr lang="de-AT" sz="3200" b="1" dirty="0">
              <a:latin typeface="+mj-lt"/>
            </a:endParaRPr>
          </a:p>
        </p:txBody>
      </p:sp>
      <p:pic>
        <p:nvPicPr>
          <p:cNvPr id="14" name="Grafik 13" descr="Ein Bild, das Text, Grafiken, Grafikdesign, Clipart enthält.&#10;&#10;KI-generierte Inhalte können fehlerhaft sein.">
            <a:extLst>
              <a:ext uri="{FF2B5EF4-FFF2-40B4-BE49-F238E27FC236}">
                <a16:creationId xmlns:a16="http://schemas.microsoft.com/office/drawing/2014/main" id="{1F1BE3CC-0ADC-3BC0-3A3E-89C204D68D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12" y="1392662"/>
            <a:ext cx="3814272" cy="3814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</p:pic>
      <p:pic>
        <p:nvPicPr>
          <p:cNvPr id="16" name="Grafik 15" descr="Ein Bild, das Grafiken, Grafikdesign, Kunst, Farbigkeit enthält.&#10;&#10;KI-generierte Inhalte können fehlerhaft sein.">
            <a:extLst>
              <a:ext uri="{FF2B5EF4-FFF2-40B4-BE49-F238E27FC236}">
                <a16:creationId xmlns:a16="http://schemas.microsoft.com/office/drawing/2014/main" id="{4BC46596-379B-06C8-9C1F-29726F206E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" y="1392662"/>
            <a:ext cx="3814272" cy="3814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</p:pic>
      <p:pic>
        <p:nvPicPr>
          <p:cNvPr id="18" name="Grafik 17" descr="Ein Bild, das Grafiken, Text, Grafikdesign, Kunst enthält.&#10;&#10;KI-generierte Inhalte können fehlerhaft sein.">
            <a:extLst>
              <a:ext uri="{FF2B5EF4-FFF2-40B4-BE49-F238E27FC236}">
                <a16:creationId xmlns:a16="http://schemas.microsoft.com/office/drawing/2014/main" id="{CC897163-C980-7EE5-F8AC-22D58A6B6F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352" y="1392662"/>
            <a:ext cx="3814272" cy="3814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146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 - Meilensteine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B18A04F-4951-2C04-8359-5D0AD75A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DE5779C-7624-178F-9FAC-AC80777685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46"/>
          <a:stretch>
            <a:fillRect/>
          </a:stretch>
        </p:blipFill>
        <p:spPr>
          <a:xfrm>
            <a:off x="163509" y="1152222"/>
            <a:ext cx="11864982" cy="455355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49838B9E-1B19-6DA7-0A8E-C3B8BE388435}"/>
              </a:ext>
            </a:extLst>
          </p:cNvPr>
          <p:cNvSpPr/>
          <p:nvPr/>
        </p:nvSpPr>
        <p:spPr>
          <a:xfrm>
            <a:off x="161925" y="4743450"/>
            <a:ext cx="4943475" cy="1714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25704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DA74-FBA9-BA29-BAC9-1524F146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DBCECA-FFE3-F79C-5F8D-44E70C34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Weitere Vorgehensweise / Nächste 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475FA0-D28C-B113-E02C-17AE42768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Schaar</a:t>
            </a:r>
          </a:p>
          <a:p>
            <a:pPr lvl="1"/>
            <a:r>
              <a:rPr lang="de-DE" dirty="0" err="1"/>
              <a:t>Redesign</a:t>
            </a:r>
            <a:r>
              <a:rPr lang="de-DE" dirty="0"/>
              <a:t> der Controller-Hardware mit entwickelten Anpassungen</a:t>
            </a:r>
          </a:p>
          <a:p>
            <a:pPr lvl="1"/>
            <a:r>
              <a:rPr lang="de-DE" dirty="0"/>
              <a:t>Test von verschiedenen Microcontrollern/Sensoren, sowie Vergleich dieser</a:t>
            </a:r>
          </a:p>
          <a:p>
            <a:r>
              <a:rPr lang="de-DE" dirty="0"/>
              <a:t>Rath</a:t>
            </a:r>
            <a:endParaRPr lang="de-AT" dirty="0"/>
          </a:p>
          <a:p>
            <a:pPr lvl="1"/>
            <a:r>
              <a:rPr lang="de-AT" dirty="0"/>
              <a:t>Weiteres Training des KI-Modells für den CPU-Gegner</a:t>
            </a:r>
          </a:p>
          <a:p>
            <a:pPr lvl="1"/>
            <a:r>
              <a:rPr lang="de-AT" dirty="0"/>
              <a:t>Umsetzung eines 3D-Prototypen des Spiels mithilfe der erstellten Assets</a:t>
            </a:r>
          </a:p>
          <a:p>
            <a:r>
              <a:rPr lang="de-DE" dirty="0" err="1"/>
              <a:t>Lanzmaier</a:t>
            </a:r>
            <a:endParaRPr lang="de-AT" dirty="0"/>
          </a:p>
          <a:p>
            <a:pPr lvl="1"/>
            <a:r>
              <a:rPr lang="de-AT" dirty="0"/>
              <a:t>Erstellung der restlichen Modelle/Assets für das Spiel, sowie Design </a:t>
            </a:r>
            <a:br>
              <a:rPr lang="de-AT" dirty="0"/>
            </a:br>
            <a:r>
              <a:rPr lang="de-AT" dirty="0"/>
              <a:t>der HUD-/Menü-Elemente</a:t>
            </a:r>
          </a:p>
          <a:p>
            <a:pPr lvl="1"/>
            <a:r>
              <a:rPr lang="de-AT" dirty="0"/>
              <a:t>Umsetzung von einem Server-Modell für die Verbindung </a:t>
            </a:r>
            <a:r>
              <a:rPr lang="de-AT"/>
              <a:t>mehrerer Game-Clients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277F46-A9AE-46E2-B67F-83F534EB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9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8F3EF259-BAA4-0191-E536-B9AF9A34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</p:spTree>
    <p:extLst>
      <p:ext uri="{BB962C8B-B14F-4D97-AF65-F5344CB8AC3E}">
        <p14:creationId xmlns:p14="http://schemas.microsoft.com/office/powerpoint/2010/main" val="3595356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BE66C-9C0C-D412-A85C-15EC067D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Fußball, Ball, Kreis, Design enthält.">
            <a:extLst>
              <a:ext uri="{FF2B5EF4-FFF2-40B4-BE49-F238E27FC236}">
                <a16:creationId xmlns:a16="http://schemas.microsoft.com/office/drawing/2014/main" id="{1733FAA8-0B4A-F938-1BC6-DF8E5FF50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5599" r="7060" b="7334"/>
          <a:stretch>
            <a:fillRect/>
          </a:stretch>
        </p:blipFill>
        <p:spPr>
          <a:xfrm>
            <a:off x="795528" y="1593490"/>
            <a:ext cx="4221924" cy="4191657"/>
          </a:xfrm>
          <a:prstGeom prst="rect">
            <a:avLst/>
          </a:prstGeom>
        </p:spPr>
      </p:pic>
      <p:sp>
        <p:nvSpPr>
          <p:cNvPr id="6" name="Rectangle 1026">
            <a:extLst>
              <a:ext uri="{FF2B5EF4-FFF2-40B4-BE49-F238E27FC236}">
                <a16:creationId xmlns:a16="http://schemas.microsoft.com/office/drawing/2014/main" id="{248BBD59-3DBD-FADF-6D6D-0A5239E2F765}"/>
              </a:ext>
            </a:extLst>
          </p:cNvPr>
          <p:cNvSpPr txBox="1">
            <a:spLocks noChangeArrowheads="1"/>
          </p:cNvSpPr>
          <p:nvPr/>
        </p:nvSpPr>
        <p:spPr>
          <a:xfrm>
            <a:off x="5465508" y="2767584"/>
            <a:ext cx="5800312" cy="1015663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>
                <a:solidFill>
                  <a:srgbClr val="9BBB59"/>
                </a:solidFill>
              </a:rPr>
              <a:t>Vielen Dank für Ihre</a:t>
            </a:r>
          </a:p>
          <a:p>
            <a:r>
              <a:rPr lang="de-AT" sz="3200" b="1" dirty="0">
                <a:solidFill>
                  <a:srgbClr val="9BBB59"/>
                </a:solidFill>
              </a:rPr>
              <a:t>Aufmerksamkeit!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5C38FF3B-176C-E7A5-A049-B996405D4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3901393"/>
            <a:ext cx="63738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Luan Lanzmaier</a:t>
            </a:r>
          </a:p>
          <a:p>
            <a:pPr algn="r"/>
            <a:r>
              <a:rPr lang="nl-NL" sz="2000" dirty="0"/>
              <a:t>André Rath</a:t>
            </a:r>
          </a:p>
          <a:p>
            <a:pPr algn="r"/>
            <a:r>
              <a:rPr lang="nl-NL" sz="2000" dirty="0"/>
              <a:t>Nikita Schaar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7ACFD83-78E4-2F2C-10CD-D02228B9C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4900341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11.11.2025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A5F57D9D-ED14-B7BC-D8A1-86CB72B7D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339355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Günther Hutter,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2DC85149-1C55-CF7F-11A1-EAEEE6F01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69197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5875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3044B4-8EAF-1F0B-190E-2E0CE17C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10" y="136521"/>
            <a:ext cx="10270380" cy="720080"/>
          </a:xfrm>
        </p:spPr>
        <p:txBody>
          <a:bodyPr>
            <a:noAutofit/>
          </a:bodyPr>
          <a:lstStyle/>
          <a:p>
            <a:pPr algn="ctr"/>
            <a:r>
              <a:rPr lang="de-AT" sz="4000" dirty="0"/>
              <a:t>Fragen / Live-Demo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4C54E9-B770-FB9E-43EC-D6133146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F6008D-A7EF-AD96-8B9E-A20BE8F2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11</a:t>
            </a:fld>
            <a:endParaRPr lang="de-AT"/>
          </a:p>
        </p:txBody>
      </p:sp>
      <p:pic>
        <p:nvPicPr>
          <p:cNvPr id="8" name="Grafik 7" descr="Ein Bild, das Fußball, Ball, Kreis, Design enthält.">
            <a:extLst>
              <a:ext uri="{FF2B5EF4-FFF2-40B4-BE49-F238E27FC236}">
                <a16:creationId xmlns:a16="http://schemas.microsoft.com/office/drawing/2014/main" id="{9DC92BD4-45A4-661A-F328-21C5E9E7B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5599" r="7060" b="7334"/>
          <a:stretch>
            <a:fillRect/>
          </a:stretch>
        </p:blipFill>
        <p:spPr>
          <a:xfrm>
            <a:off x="3556000" y="1084686"/>
            <a:ext cx="5080000" cy="504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8741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</Words>
  <Application>Microsoft Office PowerPoint</Application>
  <PresentationFormat>Breitbild</PresentationFormat>
  <Paragraphs>95</Paragraphs>
  <Slides>11</Slides>
  <Notes>2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Adobe Gothic Std B</vt:lpstr>
      <vt:lpstr>Arial</vt:lpstr>
      <vt:lpstr>Calibri</vt:lpstr>
      <vt:lpstr>Symbol</vt:lpstr>
      <vt:lpstr>Larissa</vt:lpstr>
      <vt:lpstr>PowerPoint-Präsentation</vt:lpstr>
      <vt:lpstr>Aufgabenstellungen</vt:lpstr>
      <vt:lpstr>Bisherige Probleme &amp; Lösungen</vt:lpstr>
      <vt:lpstr>Literatur</vt:lpstr>
      <vt:lpstr>Ergebnisse bis dato – Schaar</vt:lpstr>
      <vt:lpstr>Ergebnisse bis dato – Rath</vt:lpstr>
      <vt:lpstr>Ergebnisse bis dato – Lanzmaier</vt:lpstr>
      <vt:lpstr>PM - Meilensteine</vt:lpstr>
      <vt:lpstr>Weitere Vorgehensweise / Nächste Ziele</vt:lpstr>
      <vt:lpstr>PowerPoint-Präsentation</vt:lpstr>
      <vt:lpstr>Fragen / Live-Demo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Schaar Nikita</cp:lastModifiedBy>
  <cp:revision>384</cp:revision>
  <cp:lastPrinted>2020-04-02T17:36:48Z</cp:lastPrinted>
  <dcterms:created xsi:type="dcterms:W3CDTF">2012-09-14T17:11:23Z</dcterms:created>
  <dcterms:modified xsi:type="dcterms:W3CDTF">2025-11-11T12:35:35Z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